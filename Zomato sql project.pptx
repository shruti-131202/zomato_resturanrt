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8" r:id="rId1"/>
  </p:sldMasterIdLst>
  <p:notesMasterIdLst>
    <p:notesMasterId r:id="rId21"/>
  </p:notesMasterIdLst>
  <p:sldIdLst>
    <p:sldId id="284" r:id="rId2"/>
    <p:sldId id="281" r:id="rId3"/>
    <p:sldId id="257" r:id="rId4"/>
    <p:sldId id="271" r:id="rId5"/>
    <p:sldId id="275"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6" r:id="rId19"/>
    <p:sldId id="277"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21" autoAdjust="0"/>
    <p:restoredTop sz="94660"/>
  </p:normalViewPr>
  <p:slideViewPr>
    <p:cSldViewPr>
      <p:cViewPr varScale="1">
        <p:scale>
          <a:sx n="70" d="100"/>
          <a:sy n="70" d="100"/>
        </p:scale>
        <p:origin x="-1398"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E7A1FA0-3883-4C2C-9F5C-B57A4BFD578F}" type="datetimeFigureOut">
              <a:rPr lang="en-IN" smtClean="0"/>
              <a:t>21-06-2024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307F299-2F45-409F-B2B8-89416C519246}" type="slidenum">
              <a:rPr lang="en-IN" smtClean="0"/>
              <a:t>‹#›</a:t>
            </a:fld>
            <a:endParaRPr lang="en-IN"/>
          </a:p>
        </p:txBody>
      </p:sp>
    </p:spTree>
    <p:extLst>
      <p:ext uri="{BB962C8B-B14F-4D97-AF65-F5344CB8AC3E}">
        <p14:creationId xmlns:p14="http://schemas.microsoft.com/office/powerpoint/2010/main" val="21047643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 both table</a:t>
            </a:r>
            <a:r>
              <a:rPr lang="en-US" baseline="0" dirty="0" smtClean="0"/>
              <a:t> RestaurantId is common in Table1 RestaurantId is primary key and in second Table2  RestaurantId is foreign key.</a:t>
            </a:r>
            <a:endParaRPr lang="en-IN" dirty="0"/>
          </a:p>
        </p:txBody>
      </p:sp>
      <p:sp>
        <p:nvSpPr>
          <p:cNvPr id="4" name="Slide Number Placeholder 3"/>
          <p:cNvSpPr>
            <a:spLocks noGrp="1"/>
          </p:cNvSpPr>
          <p:nvPr>
            <p:ph type="sldNum" sz="quarter" idx="10"/>
          </p:nvPr>
        </p:nvSpPr>
        <p:spPr/>
        <p:txBody>
          <a:bodyPr/>
          <a:lstStyle/>
          <a:p>
            <a:fld id="{B307F299-2F45-409F-B2B8-89416C519246}" type="slidenum">
              <a:rPr lang="en-IN" smtClean="0"/>
              <a:t>3</a:t>
            </a:fld>
            <a:endParaRPr lang="en-IN" dirty="0"/>
          </a:p>
        </p:txBody>
      </p:sp>
    </p:spTree>
    <p:extLst>
      <p:ext uri="{BB962C8B-B14F-4D97-AF65-F5344CB8AC3E}">
        <p14:creationId xmlns:p14="http://schemas.microsoft.com/office/powerpoint/2010/main" val="23821957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422030" y="1371600"/>
            <a:ext cx="8229600" cy="1828800"/>
          </a:xfrm>
        </p:spPr>
        <p:txBody>
          <a:bodyPr vert="horz" lIns="45720" tIns="0" rIns="45720" bIns="0" anchor="b">
            <a:normAutofit/>
            <a:scene3d>
              <a:camera prst="orthographicFront"/>
              <a:lightRig rig="soft" dir="t">
                <a:rot lat="0" lon="0" rev="17220000"/>
              </a:lightRig>
            </a:scene3d>
            <a:sp3d prstMaterial="softEdge">
              <a:bevelT w="38100" h="38100"/>
            </a:sp3d>
          </a:bodyPr>
          <a:lstStyle>
            <a:lvl1pPr>
              <a:defRPr sz="4800" b="1" cap="all" baseline="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27000" dist="200000" dir="2700000" algn="tl" rotWithShape="0">
                    <a:srgbClr val="000000">
                      <a:alpha val="30000"/>
                    </a:srgbClr>
                  </a:outerShdw>
                </a:effectLst>
              </a:defRPr>
            </a:lvl1pPr>
          </a:lstStyle>
          <a:p>
            <a:r>
              <a:rPr kumimoji="0" lang="en-US" smtClean="0"/>
              <a:t>Click to edit Master title style</a:t>
            </a:r>
            <a:endParaRPr kumimoji="0" lang="en-US"/>
          </a:p>
        </p:txBody>
      </p:sp>
      <p:sp>
        <p:nvSpPr>
          <p:cNvPr id="28" name="Date Placeholder 27"/>
          <p:cNvSpPr>
            <a:spLocks noGrp="1"/>
          </p:cNvSpPr>
          <p:nvPr>
            <p:ph type="dt" sz="half" idx="10"/>
          </p:nvPr>
        </p:nvSpPr>
        <p:spPr/>
        <p:txBody>
          <a:bodyPr/>
          <a:lstStyle/>
          <a:p>
            <a:fld id="{AB75BF7B-1A31-4EB8-AC58-509D59F1EA0D}" type="datetimeFigureOut">
              <a:rPr lang="en-IN" smtClean="0"/>
              <a:t>21-06-2024</a:t>
            </a:fld>
            <a:endParaRPr lang="en-IN"/>
          </a:p>
        </p:txBody>
      </p:sp>
      <p:sp>
        <p:nvSpPr>
          <p:cNvPr id="17" name="Footer Placeholder 16"/>
          <p:cNvSpPr>
            <a:spLocks noGrp="1"/>
          </p:cNvSpPr>
          <p:nvPr>
            <p:ph type="ftr" sz="quarter" idx="11"/>
          </p:nvPr>
        </p:nvSpPr>
        <p:spPr/>
        <p:txBody>
          <a:bodyPr/>
          <a:lstStyle/>
          <a:p>
            <a:endParaRPr lang="en-IN"/>
          </a:p>
        </p:txBody>
      </p:sp>
      <p:sp>
        <p:nvSpPr>
          <p:cNvPr id="29" name="Slide Number Placeholder 28"/>
          <p:cNvSpPr>
            <a:spLocks noGrp="1"/>
          </p:cNvSpPr>
          <p:nvPr>
            <p:ph type="sldNum" sz="quarter" idx="12"/>
          </p:nvPr>
        </p:nvSpPr>
        <p:spPr/>
        <p:txBody>
          <a:bodyPr/>
          <a:lstStyle/>
          <a:p>
            <a:fld id="{2DE98B9B-AC22-45C7-8A4D-D2807E7B64F3}" type="slidenum">
              <a:rPr lang="en-IN" smtClean="0"/>
              <a:t>‹#›</a:t>
            </a:fld>
            <a:endParaRPr lang="en-IN"/>
          </a:p>
        </p:txBody>
      </p:sp>
      <p:sp>
        <p:nvSpPr>
          <p:cNvPr id="9" name="Subtitle 8"/>
          <p:cNvSpPr>
            <a:spLocks noGrp="1"/>
          </p:cNvSpPr>
          <p:nvPr>
            <p:ph type="subTitle" idx="1"/>
          </p:nvPr>
        </p:nvSpPr>
        <p:spPr>
          <a:xfrm>
            <a:off x="1371600" y="3331698"/>
            <a:ext cx="6400800" cy="1752600"/>
          </a:xfrm>
        </p:spPr>
        <p:txBody>
          <a:bodyPr/>
          <a:lstStyle>
            <a:lvl1pPr marL="0" indent="0" algn="ct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AB75BF7B-1A31-4EB8-AC58-509D59F1EA0D}" type="datetimeFigureOut">
              <a:rPr lang="en-IN" smtClean="0"/>
              <a:t>21-06-2024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DE98B9B-AC22-45C7-8A4D-D2807E7B64F3}"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3">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00200" y="609600"/>
            <a:ext cx="7086600" cy="1828800"/>
          </a:xfrm>
        </p:spPr>
        <p:txBody>
          <a:bodyPr vert="horz" bIns="0" anchor="b">
            <a:noAutofit/>
            <a:scene3d>
              <a:camera prst="orthographicFront"/>
              <a:lightRig rig="soft" dir="t">
                <a:rot lat="0" lon="0" rev="17220000"/>
              </a:lightRig>
            </a:scene3d>
            <a:sp3d prstMaterial="softEdge">
              <a:bevelT w="38100" h="38100"/>
              <a:contourClr>
                <a:schemeClr val="tx2">
                  <a:shade val="50000"/>
                </a:schemeClr>
              </a:contourClr>
            </a:sp3d>
          </a:bodyPr>
          <a:lstStyle>
            <a:lvl1pPr algn="l" rtl="0">
              <a:spcBef>
                <a:spcPct val="0"/>
              </a:spcBef>
              <a:buNone/>
              <a:defRPr sz="4800" b="1" cap="none" baseline="0">
                <a:ln w="6350">
                  <a:noFill/>
                </a:ln>
                <a:solidFill>
                  <a:schemeClr val="accent1">
                    <a:tint val="90000"/>
                    <a:satMod val="120000"/>
                  </a:schemeClr>
                </a:solidFill>
                <a:effectLst>
                  <a:outerShdw blurRad="114300" dist="101600" dir="2700000" algn="tl" rotWithShape="0">
                    <a:srgbClr val="000000">
                      <a:alpha val="40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1600200" y="2507786"/>
            <a:ext cx="7086600" cy="1509712"/>
          </a:xfrm>
        </p:spPr>
        <p:txBody>
          <a:bodyPr anchor="t"/>
          <a:lstStyle>
            <a:lvl1pPr marL="73152" indent="0" algn="l">
              <a:buNone/>
              <a:defRPr sz="20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AB75BF7B-1A31-4EB8-AC58-509D59F1EA0D}" type="datetimeFigureOut">
              <a:rPr lang="en-IN" smtClean="0"/>
              <a:t>21-06-2024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7924800" y="6416675"/>
            <a:ext cx="762000" cy="365125"/>
          </a:xfrm>
        </p:spPr>
        <p:txBody>
          <a:bodyPr/>
          <a:lstStyle/>
          <a:p>
            <a:fld id="{2DE98B9B-AC22-45C7-8A4D-D2807E7B64F3}" type="slidenum">
              <a:rPr lang="en-IN" smtClean="0"/>
              <a:t>‹#›</a:t>
            </a:fld>
            <a:endParaRPr lang="en-IN"/>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600200"/>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AB75BF7B-1A31-4EB8-AC58-509D59F1EA0D}" type="datetimeFigureOut">
              <a:rPr lang="en-IN" smtClean="0"/>
              <a:t>21-06-2024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DE98B9B-AC22-45C7-8A4D-D2807E7B64F3}"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535112"/>
            <a:ext cx="4040188"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535112"/>
            <a:ext cx="4041775"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362200"/>
            <a:ext cx="4040188" cy="37639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362200"/>
            <a:ext cx="4041775" cy="37639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B75BF7B-1A31-4EB8-AC58-509D59F1EA0D}" type="datetimeFigureOut">
              <a:rPr lang="en-IN" smtClean="0"/>
              <a:t>21-06-2024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DE98B9B-AC22-45C7-8A4D-D2807E7B64F3}"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AB75BF7B-1A31-4EB8-AC58-509D59F1EA0D}" type="datetimeFigureOut">
              <a:rPr lang="en-IN" smtClean="0"/>
              <a:t>21-06-2024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DE98B9B-AC22-45C7-8A4D-D2807E7B64F3}"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B75BF7B-1A31-4EB8-AC58-509D59F1EA0D}" type="datetimeFigureOut">
              <a:rPr lang="en-IN" smtClean="0"/>
              <a:t>21-06-2024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DE98B9B-AC22-45C7-8A4D-D2807E7B64F3}"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vert="horz" anchor="b">
            <a:normAutofit/>
            <a:sp3d prstMaterial="softEdge"/>
          </a:bodyPr>
          <a:lstStyle>
            <a:lvl1pPr algn="l">
              <a:buNone/>
              <a:defRPr sz="2200" b="0">
                <a:ln w="6350">
                  <a:noFill/>
                </a:ln>
                <a:solidFill>
                  <a:schemeClr val="accent1">
                    <a:tint val="73000"/>
                    <a:satMod val="180000"/>
                  </a:schemeClr>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524000"/>
            <a:ext cx="3008313" cy="4602163"/>
          </a:xfrm>
        </p:spPr>
        <p:txBody>
          <a:bodyPr/>
          <a:lstStyle>
            <a:lvl1pPr marL="0"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273050"/>
            <a:ext cx="5111750" cy="5853113"/>
          </a:xfrm>
        </p:spPr>
        <p:txBody>
          <a:bodyPr/>
          <a:lstStyle>
            <a:lvl1pPr>
              <a:defRPr sz="2600"/>
            </a:lvl1pPr>
            <a:lvl2pPr>
              <a:defRPr sz="2400"/>
            </a:lvl2pPr>
            <a:lvl3pPr>
              <a:defRPr sz="22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AB75BF7B-1A31-4EB8-AC58-509D59F1EA0D}" type="datetimeFigureOut">
              <a:rPr lang="en-IN" smtClean="0"/>
              <a:t>21-06-2024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DE98B9B-AC22-45C7-8A4D-D2807E7B64F3}"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828800" y="609600"/>
            <a:ext cx="5486400" cy="522288"/>
          </a:xfrm>
        </p:spPr>
        <p:txBody>
          <a:bodyPr lIns="45720" rIns="45720" bIns="0" anchor="b">
            <a:sp3d prstMaterial="softEdge"/>
          </a:bodyPr>
          <a:lstStyle>
            <a:lvl1pPr algn="ctr">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828800" y="1831975"/>
            <a:ext cx="5486400" cy="3962400"/>
          </a:xfrm>
          <a:solidFill>
            <a:schemeClr val="bg2"/>
          </a:solidFill>
          <a:ln w="44450" cap="sq" cmpd="sng" algn="ctr">
            <a:solidFill>
              <a:srgbClr val="FFFFFF"/>
            </a:solidFill>
            <a:prstDash val="solid"/>
            <a:miter lim="800000"/>
          </a:ln>
          <a:effectLst>
            <a:outerShdw blurRad="190500" dist="228600" dir="2700000" sy="90000">
              <a:srgbClr val="000000">
                <a:alpha val="25000"/>
              </a:srgbClr>
            </a:outerShdw>
          </a:effectLst>
          <a:scene3d>
            <a:camera prst="orthographicFront">
              <a:rot lat="0" lon="0" rev="0"/>
            </a:camera>
            <a:lightRig rig="balanced" dir="tr">
              <a:rot lat="0" lon="0" rev="2700000"/>
            </a:lightRig>
          </a:scene3d>
          <a:sp3d prstMaterial="matte">
            <a:contourClr>
              <a:schemeClr val="tx2">
                <a:shade val="50000"/>
              </a:schemeClr>
            </a:contourClr>
          </a:sp3d>
        </p:spPr>
        <p:style>
          <a:lnRef idx="3">
            <a:schemeClr val="lt1"/>
          </a:lnRef>
          <a:fillRef idx="1">
            <a:schemeClr val="accent1"/>
          </a:fillRef>
          <a:effectRef idx="1">
            <a:schemeClr val="accent1"/>
          </a:effectRef>
          <a:fontRef idx="minor">
            <a:schemeClr val="lt1"/>
          </a:fontRef>
        </p:style>
        <p:txBody>
          <a:bodyPr anchor="t"/>
          <a:lstStyle>
            <a:lvl1pPr indent="0">
              <a:buNone/>
              <a:defRPr sz="3200"/>
            </a:lvl1pPr>
          </a:lstStyle>
          <a:p>
            <a:pPr marL="0" algn="l" rtl="0" eaLnBrk="1" latinLnBrk="0" hangingPunct="1"/>
            <a:r>
              <a:rPr kumimoji="0" lang="en-US" smtClean="0">
                <a:solidFill>
                  <a:schemeClr val="lt1"/>
                </a:solidFill>
                <a:latin typeface="+mn-lt"/>
                <a:ea typeface="+mn-ea"/>
                <a:cs typeface="+mn-cs"/>
              </a:rPr>
              <a:t>Click icon to add picture</a:t>
            </a:r>
            <a:endParaRPr kumimoji="0" lang="en-US" dirty="0">
              <a:solidFill>
                <a:schemeClr val="lt1"/>
              </a:solidFill>
              <a:latin typeface="+mn-lt"/>
              <a:ea typeface="+mn-ea"/>
              <a:cs typeface="+mn-cs"/>
            </a:endParaRPr>
          </a:p>
        </p:txBody>
      </p:sp>
      <p:sp>
        <p:nvSpPr>
          <p:cNvPr id="4" name="Text Placeholder 3"/>
          <p:cNvSpPr>
            <a:spLocks noGrp="1"/>
          </p:cNvSpPr>
          <p:nvPr>
            <p:ph type="body" sz="half" idx="2"/>
          </p:nvPr>
        </p:nvSpPr>
        <p:spPr>
          <a:xfrm>
            <a:off x="1828800" y="1166787"/>
            <a:ext cx="5486400" cy="530352"/>
          </a:xfrm>
        </p:spPr>
        <p:txBody>
          <a:bodyPr lIns="45720" tIns="45720" rIns="45720" anchor="t"/>
          <a:lstStyle>
            <a:lvl1pPr marL="0" indent="0" algn="ctr">
              <a:buNone/>
              <a:defRPr sz="14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AB75BF7B-1A31-4EB8-AC58-509D59F1EA0D}" type="datetimeFigureOut">
              <a:rPr lang="en-IN" smtClean="0"/>
              <a:t>21-06-2024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DE98B9B-AC22-45C7-8A4D-D2807E7B64F3}"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AB75BF7B-1A31-4EB8-AC58-509D59F1EA0D}" type="datetimeFigureOut">
              <a:rPr lang="en-IN" smtClean="0"/>
              <a:t>21-06-2024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DE98B9B-AC22-45C7-8A4D-D2807E7B64F3}"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AB75BF7B-1A31-4EB8-AC58-509D59F1EA0D}" type="datetimeFigureOut">
              <a:rPr lang="en-IN" smtClean="0"/>
              <a:t>21-06-2024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DE98B9B-AC22-45C7-8A4D-D2807E7B64F3}"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rot lat="0" lon="0" rev="16800000"/>
              </a:lightRig>
            </a:scene3d>
            <a:sp3d prstMaterial="softEdge">
              <a:bevelT w="38100" h="38100"/>
            </a:sp3d>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600200"/>
            <a:ext cx="8229600" cy="470916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457200" y="6416675"/>
            <a:ext cx="2133600" cy="365125"/>
          </a:xfrm>
          <a:prstGeom prst="rect">
            <a:avLst/>
          </a:prstGeom>
        </p:spPr>
        <p:txBody>
          <a:bodyPr vert="horz" anchor="b"/>
          <a:lstStyle>
            <a:lvl1pPr algn="l" eaLnBrk="1" latinLnBrk="0" hangingPunct="1">
              <a:defRPr kumimoji="0" sz="1200">
                <a:solidFill>
                  <a:schemeClr val="tx1">
                    <a:shade val="50000"/>
                  </a:schemeClr>
                </a:solidFill>
              </a:defRPr>
            </a:lvl1pPr>
          </a:lstStyle>
          <a:p>
            <a:fld id="{AB75BF7B-1A31-4EB8-AC58-509D59F1EA0D}" type="datetimeFigureOut">
              <a:rPr lang="en-IN" smtClean="0"/>
              <a:pPr/>
              <a:t>21-06-2024</a:t>
            </a:fld>
            <a:endParaRPr lang="en-IN" dirty="0"/>
          </a:p>
        </p:txBody>
      </p:sp>
      <p:sp>
        <p:nvSpPr>
          <p:cNvPr id="3" name="Footer Placeholder 2"/>
          <p:cNvSpPr>
            <a:spLocks noGrp="1"/>
          </p:cNvSpPr>
          <p:nvPr>
            <p:ph type="ftr" sz="quarter" idx="3"/>
          </p:nvPr>
        </p:nvSpPr>
        <p:spPr>
          <a:xfrm>
            <a:off x="3124200" y="6416675"/>
            <a:ext cx="2895600" cy="365125"/>
          </a:xfrm>
          <a:prstGeom prst="rect">
            <a:avLst/>
          </a:prstGeom>
        </p:spPr>
        <p:txBody>
          <a:bodyPr vert="horz" anchor="b"/>
          <a:lstStyle>
            <a:lvl1pPr algn="ctr" eaLnBrk="1" latinLnBrk="0" hangingPunct="1">
              <a:defRPr kumimoji="0" sz="1200">
                <a:solidFill>
                  <a:schemeClr val="tx1">
                    <a:shade val="50000"/>
                  </a:schemeClr>
                </a:solidFill>
              </a:defRPr>
            </a:lvl1pPr>
          </a:lstStyle>
          <a:p>
            <a:endParaRPr lang="en-IN" dirty="0"/>
          </a:p>
        </p:txBody>
      </p:sp>
      <p:sp>
        <p:nvSpPr>
          <p:cNvPr id="23" name="Slide Number Placeholder 22"/>
          <p:cNvSpPr>
            <a:spLocks noGrp="1"/>
          </p:cNvSpPr>
          <p:nvPr>
            <p:ph type="sldNum" sz="quarter" idx="4"/>
          </p:nvPr>
        </p:nvSpPr>
        <p:spPr>
          <a:xfrm>
            <a:off x="7924800" y="6416675"/>
            <a:ext cx="762000" cy="365125"/>
          </a:xfrm>
          <a:prstGeom prst="rect">
            <a:avLst/>
          </a:prstGeom>
        </p:spPr>
        <p:txBody>
          <a:bodyPr vert="horz" lIns="0" rIns="0" anchor="b"/>
          <a:lstStyle>
            <a:lvl1pPr algn="r" eaLnBrk="1" latinLnBrk="0" hangingPunct="1">
              <a:defRPr kumimoji="0" sz="1200">
                <a:solidFill>
                  <a:schemeClr val="tx1">
                    <a:shade val="50000"/>
                  </a:schemeClr>
                </a:solidFill>
              </a:defRPr>
            </a:lvl1pPr>
          </a:lstStyle>
          <a:p>
            <a:fld id="{2DE98B9B-AC22-45C7-8A4D-D2807E7B64F3}" type="slidenum">
              <a:rPr lang="en-IN" smtClean="0"/>
              <a:pPr/>
              <a:t>‹#›</a:t>
            </a:fld>
            <a:endParaRPr lang="en-IN" dirty="0"/>
          </a:p>
        </p:txBody>
      </p:sp>
    </p:spTree>
  </p:cSld>
  <p:clrMap bg1="dk1" tx1="lt1" bg2="dk2" tx2="lt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txStyles>
    <p:titleStyle>
      <a:lvl1pPr algn="ctr" rtl="0" eaLnBrk="1" latinLnBrk="0" hangingPunct="1">
        <a:spcBef>
          <a:spcPct val="0"/>
        </a:spcBef>
        <a:buNone/>
        <a:defRPr kumimoji="0" sz="4100" b="1" kern="1200" cap="none" baseline="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latin typeface="+mj-lt"/>
          <a:ea typeface="+mj-ea"/>
          <a:cs typeface="+mj-cs"/>
        </a:defRPr>
      </a:lvl1pPr>
    </p:titleStyle>
    <p:bodyStyle>
      <a:lvl1pPr marL="548640" indent="-411480" algn="l" rtl="0" eaLnBrk="1" latinLnBrk="0" hangingPunct="1">
        <a:spcBef>
          <a:spcPct val="20000"/>
        </a:spcBef>
        <a:buClr>
          <a:schemeClr val="tx1">
            <a:shade val="95000"/>
          </a:schemeClr>
        </a:buClr>
        <a:buSzPct val="65000"/>
        <a:buFont typeface="Wingdings 2"/>
        <a:buChar char=""/>
        <a:defRPr kumimoji="0" sz="2800" kern="1200">
          <a:solidFill>
            <a:schemeClr val="tx1"/>
          </a:solidFill>
          <a:latin typeface="+mn-lt"/>
          <a:ea typeface="+mn-ea"/>
          <a:cs typeface="+mn-cs"/>
        </a:defRPr>
      </a:lvl1pPr>
      <a:lvl2pPr marL="868680" indent="-283464" algn="l" rtl="0" eaLnBrk="1" latinLnBrk="0" hangingPunct="1">
        <a:spcBef>
          <a:spcPct val="20000"/>
        </a:spcBef>
        <a:buClr>
          <a:schemeClr val="tx1"/>
        </a:buClr>
        <a:buSzPct val="80000"/>
        <a:buFont typeface="Wingdings 2"/>
        <a:buChar char=""/>
        <a:defRPr kumimoji="0" sz="2400" kern="1200">
          <a:solidFill>
            <a:schemeClr val="tx1"/>
          </a:solidFill>
          <a:latin typeface="+mn-lt"/>
          <a:ea typeface="+mn-ea"/>
          <a:cs typeface="+mn-cs"/>
        </a:defRPr>
      </a:lvl2pPr>
      <a:lvl3pPr marL="1133856" indent="-228600" algn="l" rtl="0" eaLnBrk="1" latinLnBrk="0" hangingPunct="1">
        <a:spcBef>
          <a:spcPct val="20000"/>
        </a:spcBef>
        <a:buClr>
          <a:schemeClr val="tx1"/>
        </a:buClr>
        <a:buSzPct val="95000"/>
        <a:buFont typeface="Wingdings"/>
        <a:buChar char=""/>
        <a:defRPr kumimoji="0" sz="2200" kern="1200">
          <a:solidFill>
            <a:schemeClr val="tx1"/>
          </a:solidFill>
          <a:latin typeface="+mn-lt"/>
          <a:ea typeface="+mn-ea"/>
          <a:cs typeface="+mn-cs"/>
        </a:defRPr>
      </a:lvl3pPr>
      <a:lvl4pPr marL="1353312" indent="-182880" algn="l" rtl="0" eaLnBrk="1" latinLnBrk="0" hangingPunct="1">
        <a:spcBef>
          <a:spcPct val="20000"/>
        </a:spcBef>
        <a:buClr>
          <a:schemeClr val="tx1"/>
        </a:buClr>
        <a:buSzPct val="100000"/>
        <a:buFont typeface="Wingdings 3"/>
        <a:buChar char=""/>
        <a:defRPr kumimoji="0" sz="2000" kern="1200">
          <a:solidFill>
            <a:schemeClr val="tx1"/>
          </a:solidFill>
          <a:latin typeface="+mn-lt"/>
          <a:ea typeface="+mn-ea"/>
          <a:cs typeface="+mn-cs"/>
        </a:defRPr>
      </a:lvl4pPr>
      <a:lvl5pPr marL="1545336" indent="-182880" algn="l" rtl="0" eaLnBrk="1" latinLnBrk="0" hangingPunct="1">
        <a:spcBef>
          <a:spcPct val="20000"/>
        </a:spcBef>
        <a:buClr>
          <a:schemeClr val="tx1"/>
        </a:buClr>
        <a:buFont typeface="Wingdings 2"/>
        <a:buChar char=""/>
        <a:defRPr kumimoji="0" sz="2000" kern="1200">
          <a:solidFill>
            <a:schemeClr val="tx1"/>
          </a:solidFill>
          <a:latin typeface="+mn-lt"/>
          <a:ea typeface="+mn-ea"/>
          <a:cs typeface="+mn-cs"/>
        </a:defRPr>
      </a:lvl5pPr>
      <a:lvl6pPr marL="1764792" indent="-182880" algn="l" rtl="0" eaLnBrk="1" latinLnBrk="0" hangingPunct="1">
        <a:spcBef>
          <a:spcPct val="20000"/>
        </a:spcBef>
        <a:buClr>
          <a:schemeClr val="tx1"/>
        </a:buClr>
        <a:buFont typeface="Wingdings 3"/>
        <a:buChar char=""/>
        <a:defRPr kumimoji="0" sz="1800" kern="1200">
          <a:solidFill>
            <a:schemeClr val="tx1"/>
          </a:solidFill>
          <a:latin typeface="+mn-lt"/>
          <a:ea typeface="+mn-ea"/>
          <a:cs typeface="+mn-cs"/>
        </a:defRPr>
      </a:lvl6pPr>
      <a:lvl7pPr marL="1965960" indent="-182880" algn="l" rtl="0" eaLnBrk="1" latinLnBrk="0" hangingPunct="1">
        <a:spcBef>
          <a:spcPct val="20000"/>
        </a:spcBef>
        <a:buClr>
          <a:schemeClr val="tx1"/>
        </a:buClr>
        <a:buFont typeface="Wingdings 2"/>
        <a:buChar char=""/>
        <a:defRPr kumimoji="0" sz="1600" kern="1200">
          <a:solidFill>
            <a:schemeClr val="tx1"/>
          </a:solidFill>
          <a:latin typeface="+mn-lt"/>
          <a:ea typeface="+mn-ea"/>
          <a:cs typeface="+mn-cs"/>
        </a:defRPr>
      </a:lvl7pPr>
      <a:lvl8pPr marL="2167128" indent="-182880" algn="l" rtl="0" eaLnBrk="1" latinLnBrk="0" hangingPunct="1">
        <a:spcBef>
          <a:spcPct val="20000"/>
        </a:spcBef>
        <a:buClr>
          <a:schemeClr val="tx1"/>
        </a:buClr>
        <a:buFont typeface="Wingdings 2"/>
        <a:buChar char=""/>
        <a:defRPr kumimoji="0" sz="1400" kern="1200">
          <a:solidFill>
            <a:schemeClr val="tx1"/>
          </a:solidFill>
          <a:latin typeface="+mn-lt"/>
          <a:ea typeface="+mn-ea"/>
          <a:cs typeface="+mn-cs"/>
        </a:defRPr>
      </a:lvl8pPr>
      <a:lvl9pPr marL="2368296" indent="-182880" algn="l" rtl="0" eaLnBrk="1" latinLnBrk="0" hangingPunct="1">
        <a:spcBef>
          <a:spcPct val="20000"/>
        </a:spcBef>
        <a:buClr>
          <a:schemeClr val="tx1"/>
        </a:buClr>
        <a:buFont typeface="Wingdings 2"/>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a:xfrm>
            <a:off x="457200" y="1772816"/>
            <a:ext cx="8229600" cy="2088232"/>
          </a:xfrm>
          <a:solidFill>
            <a:schemeClr val="bg2"/>
          </a:solidFill>
        </p:spPr>
        <p:txBody>
          <a:bodyPr/>
          <a:lstStyle/>
          <a:p>
            <a:r>
              <a:rPr lang="en-US" dirty="0" err="1" smtClean="0">
                <a:solidFill>
                  <a:schemeClr val="tx1">
                    <a:lumMod val="85000"/>
                  </a:schemeClr>
                </a:solidFill>
              </a:rPr>
              <a:t>Zomato</a:t>
            </a:r>
            <a:r>
              <a:rPr lang="en-US" dirty="0" smtClean="0">
                <a:solidFill>
                  <a:schemeClr val="tx1">
                    <a:lumMod val="85000"/>
                  </a:schemeClr>
                </a:solidFill>
              </a:rPr>
              <a:t> Restaurant </a:t>
            </a:r>
            <a:r>
              <a:rPr lang="en-US" dirty="0" err="1" smtClean="0">
                <a:solidFill>
                  <a:schemeClr val="tx1">
                    <a:lumMod val="85000"/>
                  </a:schemeClr>
                </a:solidFill>
              </a:rPr>
              <a:t>Sql</a:t>
            </a:r>
            <a:r>
              <a:rPr lang="en-US" dirty="0" smtClean="0">
                <a:solidFill>
                  <a:schemeClr val="tx1">
                    <a:lumMod val="85000"/>
                  </a:schemeClr>
                </a:solidFill>
              </a:rPr>
              <a:t> Project</a:t>
            </a:r>
            <a:endParaRPr lang="en-IN" dirty="0">
              <a:solidFill>
                <a:schemeClr val="tx1">
                  <a:lumMod val="85000"/>
                </a:schemeClr>
              </a:solidFill>
            </a:endParaRPr>
          </a:p>
        </p:txBody>
      </p:sp>
    </p:spTree>
    <p:extLst>
      <p:ext uri="{BB962C8B-B14F-4D97-AF65-F5344CB8AC3E}">
        <p14:creationId xmlns:p14="http://schemas.microsoft.com/office/powerpoint/2010/main" val="12956619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260648"/>
            <a:ext cx="8219256" cy="864096"/>
          </a:xfrm>
        </p:spPr>
        <p:style>
          <a:lnRef idx="1">
            <a:schemeClr val="accent1"/>
          </a:lnRef>
          <a:fillRef idx="2">
            <a:schemeClr val="accent1"/>
          </a:fillRef>
          <a:effectRef idx="1">
            <a:schemeClr val="accent1"/>
          </a:effectRef>
          <a:fontRef idx="minor">
            <a:schemeClr val="dk1"/>
          </a:fontRef>
        </p:style>
        <p:txBody>
          <a:bodyPr/>
          <a:lstStyle/>
          <a:p>
            <a:pPr>
              <a:lnSpc>
                <a:spcPct val="100000"/>
              </a:lnSpc>
            </a:pPr>
            <a:r>
              <a:rPr lang="en-US" sz="4000" b="1" dirty="0" smtClean="0">
                <a:effectLst/>
              </a:rPr>
              <a:t>Objective</a:t>
            </a:r>
            <a:endParaRPr lang="en-IN" sz="4000" b="1" dirty="0">
              <a:effectLst/>
            </a:endParaRPr>
          </a:p>
        </p:txBody>
      </p:sp>
      <p:sp>
        <p:nvSpPr>
          <p:cNvPr id="3" name="Content Placeholder 2"/>
          <p:cNvSpPr>
            <a:spLocks noGrp="1"/>
          </p:cNvSpPr>
          <p:nvPr>
            <p:ph idx="1"/>
          </p:nvPr>
        </p:nvSpPr>
        <p:spPr>
          <a:xfrm>
            <a:off x="457200" y="1412776"/>
            <a:ext cx="8229600" cy="4713387"/>
          </a:xfrm>
        </p:spPr>
        <p:style>
          <a:lnRef idx="1">
            <a:schemeClr val="accent1"/>
          </a:lnRef>
          <a:fillRef idx="2">
            <a:schemeClr val="accent1"/>
          </a:fillRef>
          <a:effectRef idx="1">
            <a:schemeClr val="accent1"/>
          </a:effectRef>
          <a:fontRef idx="minor">
            <a:schemeClr val="dk1"/>
          </a:fontRef>
        </p:style>
        <p:txBody>
          <a:bodyPr>
            <a:normAutofit/>
          </a:bodyPr>
          <a:lstStyle/>
          <a:p>
            <a:pPr marL="0" indent="0">
              <a:buNone/>
            </a:pPr>
            <a:r>
              <a:rPr lang="en-US" dirty="0">
                <a:latin typeface="Times New Roman" panose="02020603050405020304" pitchFamily="18" charset="0"/>
                <a:cs typeface="Times New Roman" panose="02020603050405020304" pitchFamily="18" charset="0"/>
              </a:rPr>
              <a:t>The "</a:t>
            </a:r>
            <a:r>
              <a:rPr lang="en-US" dirty="0" err="1">
                <a:latin typeface="Times New Roman" panose="02020603050405020304" pitchFamily="18" charset="0"/>
                <a:cs typeface="Times New Roman" panose="02020603050405020304" pitchFamily="18" charset="0"/>
              </a:rPr>
              <a:t>Zomato</a:t>
            </a:r>
            <a:r>
              <a:rPr lang="en-US" dirty="0">
                <a:latin typeface="Times New Roman" panose="02020603050405020304" pitchFamily="18" charset="0"/>
                <a:cs typeface="Times New Roman" panose="02020603050405020304" pitchFamily="18" charset="0"/>
              </a:rPr>
              <a:t> Restaurant Data Analysis" project aims to uncover valuable insights from the extensive </a:t>
            </a:r>
            <a:r>
              <a:rPr lang="en-US" dirty="0" smtClean="0">
                <a:latin typeface="Times New Roman" panose="02020603050405020304" pitchFamily="18" charset="0"/>
                <a:cs typeface="Times New Roman" panose="02020603050405020304" pitchFamily="18" charset="0"/>
              </a:rPr>
              <a:t>dataset. </a:t>
            </a:r>
            <a:r>
              <a:rPr lang="en-US" dirty="0">
                <a:latin typeface="Times New Roman" panose="02020603050405020304" pitchFamily="18" charset="0"/>
                <a:cs typeface="Times New Roman" panose="02020603050405020304" pitchFamily="18" charset="0"/>
              </a:rPr>
              <a:t>By leveraging SQL, this project focuses on analyzing various aspects of restaurant data, including distribution, popularity, pricing, and customer preferences. The ultimate goal is to derive actionable insights that can benefit restaurant owners, customers, and industry analysts</a:t>
            </a:r>
            <a:r>
              <a:rPr lang="en-US" dirty="0"/>
              <a:t>.</a:t>
            </a:r>
            <a:endParaRPr lang="en-IN" dirty="0"/>
          </a:p>
        </p:txBody>
      </p:sp>
    </p:spTree>
    <p:extLst>
      <p:ext uri="{BB962C8B-B14F-4D97-AF65-F5344CB8AC3E}">
        <p14:creationId xmlns:p14="http://schemas.microsoft.com/office/powerpoint/2010/main" val="7460289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260648"/>
            <a:ext cx="8291264" cy="1296144"/>
          </a:xfrm>
        </p:spPr>
        <p:style>
          <a:lnRef idx="1">
            <a:schemeClr val="accent1"/>
          </a:lnRef>
          <a:fillRef idx="2">
            <a:schemeClr val="accent1"/>
          </a:fillRef>
          <a:effectRef idx="1">
            <a:schemeClr val="accent1"/>
          </a:effectRef>
          <a:fontRef idx="minor">
            <a:schemeClr val="dk1"/>
          </a:fontRef>
        </p:style>
        <p:txBody>
          <a:bodyPr/>
          <a:lstStyle/>
          <a:p>
            <a:r>
              <a:rPr lang="en-US" dirty="0" smtClean="0"/>
              <a:t>Tables</a:t>
            </a:r>
            <a:endParaRPr lang="en-IN" dirty="0"/>
          </a:p>
        </p:txBody>
      </p:sp>
      <p:sp>
        <p:nvSpPr>
          <p:cNvPr id="3" name="Content Placeholder 2"/>
          <p:cNvSpPr>
            <a:spLocks noGrp="1"/>
          </p:cNvSpPr>
          <p:nvPr>
            <p:ph sz="half" idx="1"/>
          </p:nvPr>
        </p:nvSpPr>
        <p:spPr>
          <a:xfrm>
            <a:off x="4644008" y="1772816"/>
            <a:ext cx="4042792" cy="4353347"/>
          </a:xfrm>
        </p:spPr>
        <p:style>
          <a:lnRef idx="1">
            <a:schemeClr val="accent1"/>
          </a:lnRef>
          <a:fillRef idx="2">
            <a:schemeClr val="accent1"/>
          </a:fillRef>
          <a:effectRef idx="1">
            <a:schemeClr val="accent1"/>
          </a:effectRef>
          <a:fontRef idx="minor">
            <a:schemeClr val="dk1"/>
          </a:fontRef>
        </p:style>
        <p:txBody>
          <a:bodyPr>
            <a:normAutofit fontScale="92500" lnSpcReduction="10000"/>
          </a:bodyPr>
          <a:lstStyle/>
          <a:p>
            <a:pPr marL="0" indent="0">
              <a:buNone/>
            </a:pPr>
            <a:r>
              <a:rPr lang="en-US" dirty="0" err="1" smtClean="0">
                <a:latin typeface="Times New Roman" panose="02020603050405020304" pitchFamily="18" charset="0"/>
              </a:rPr>
              <a:t>Restaurant_address</a:t>
            </a:r>
            <a:r>
              <a:rPr lang="en-US" dirty="0" smtClean="0">
                <a:latin typeface="Times New Roman" panose="02020603050405020304" pitchFamily="18" charset="0"/>
              </a:rPr>
              <a:t> (table2</a:t>
            </a:r>
            <a:r>
              <a:rPr lang="en-US" dirty="0" smtClean="0">
                <a:latin typeface="Times New Roman" panose="02020603050405020304" pitchFamily="18" charset="0"/>
              </a:rPr>
              <a:t>)</a:t>
            </a:r>
            <a:endParaRPr lang="en-IN" dirty="0" smtClean="0">
              <a:latin typeface="Times New Roman" panose="02020603050405020304" pitchFamily="18" charset="0"/>
            </a:endParaRPr>
          </a:p>
          <a:p>
            <a:pPr marL="0" indent="0">
              <a:buNone/>
            </a:pPr>
            <a:r>
              <a:rPr lang="en-US" dirty="0" err="1" smtClean="0">
                <a:latin typeface="Times New Roman" panose="02020603050405020304" pitchFamily="18" charset="0"/>
              </a:rPr>
              <a:t>RestaurantId</a:t>
            </a:r>
            <a:r>
              <a:rPr lang="en-US" dirty="0" smtClean="0">
                <a:latin typeface="Times New Roman" panose="02020603050405020304" pitchFamily="18" charset="0"/>
              </a:rPr>
              <a:t>                                  </a:t>
            </a:r>
          </a:p>
          <a:p>
            <a:pPr marL="0" indent="0">
              <a:buNone/>
            </a:pPr>
            <a:r>
              <a:rPr lang="en-US" dirty="0" smtClean="0">
                <a:latin typeface="Times New Roman" panose="02020603050405020304" pitchFamily="18" charset="0"/>
              </a:rPr>
              <a:t>Country</a:t>
            </a:r>
          </a:p>
          <a:p>
            <a:pPr marL="0" indent="0">
              <a:buNone/>
            </a:pPr>
            <a:r>
              <a:rPr lang="en-US" dirty="0" err="1" smtClean="0">
                <a:latin typeface="Times New Roman" panose="02020603050405020304" pitchFamily="18" charset="0"/>
              </a:rPr>
              <a:t>CountryCode</a:t>
            </a:r>
            <a:endParaRPr lang="en-US" dirty="0" smtClean="0">
              <a:latin typeface="Times New Roman" panose="02020603050405020304" pitchFamily="18" charset="0"/>
            </a:endParaRPr>
          </a:p>
          <a:p>
            <a:pPr marL="0" indent="0">
              <a:buNone/>
            </a:pPr>
            <a:r>
              <a:rPr lang="en-US" dirty="0" smtClean="0">
                <a:latin typeface="Times New Roman" panose="02020603050405020304" pitchFamily="18" charset="0"/>
              </a:rPr>
              <a:t>City</a:t>
            </a:r>
          </a:p>
          <a:p>
            <a:pPr marL="0" indent="0">
              <a:buNone/>
            </a:pPr>
            <a:r>
              <a:rPr lang="en-US" dirty="0" smtClean="0">
                <a:latin typeface="Times New Roman" panose="02020603050405020304" pitchFamily="18" charset="0"/>
              </a:rPr>
              <a:t>Locality</a:t>
            </a:r>
          </a:p>
          <a:p>
            <a:pPr marL="0" indent="0">
              <a:buNone/>
            </a:pPr>
            <a:r>
              <a:rPr lang="en-US" dirty="0" err="1" smtClean="0">
                <a:latin typeface="Times New Roman" panose="02020603050405020304" pitchFamily="18" charset="0"/>
              </a:rPr>
              <a:t>LocalityVarbose</a:t>
            </a:r>
            <a:endParaRPr lang="en-US" dirty="0" smtClean="0">
              <a:latin typeface="Times New Roman" panose="02020603050405020304" pitchFamily="18" charset="0"/>
            </a:endParaRPr>
          </a:p>
          <a:p>
            <a:pPr marL="0" indent="0">
              <a:buNone/>
            </a:pPr>
            <a:r>
              <a:rPr lang="en-US" dirty="0" smtClean="0">
                <a:latin typeface="Times New Roman" panose="02020603050405020304" pitchFamily="18" charset="0"/>
              </a:rPr>
              <a:t>Address</a:t>
            </a:r>
          </a:p>
          <a:p>
            <a:pPr marL="0" indent="0">
              <a:buNone/>
            </a:pPr>
            <a:r>
              <a:rPr lang="en-US" dirty="0" smtClean="0">
                <a:latin typeface="Times New Roman" panose="02020603050405020304" pitchFamily="18" charset="0"/>
              </a:rPr>
              <a:t>Cuisines</a:t>
            </a:r>
          </a:p>
          <a:p>
            <a:pPr marL="0" indent="0">
              <a:buNone/>
            </a:pPr>
            <a:r>
              <a:rPr lang="en-US" dirty="0" smtClean="0">
                <a:latin typeface="Times New Roman" panose="02020603050405020304" pitchFamily="18" charset="0"/>
              </a:rPr>
              <a:t>Currency</a:t>
            </a:r>
          </a:p>
          <a:p>
            <a:pPr marL="0" indent="0">
              <a:buNone/>
            </a:pPr>
            <a:endParaRPr lang="en-IN" dirty="0">
              <a:latin typeface="Times New Roman" panose="02020603050405020304" pitchFamily="18" charset="0"/>
            </a:endParaRPr>
          </a:p>
        </p:txBody>
      </p:sp>
      <p:sp>
        <p:nvSpPr>
          <p:cNvPr id="5" name="Content Placeholder 4"/>
          <p:cNvSpPr>
            <a:spLocks noGrp="1"/>
          </p:cNvSpPr>
          <p:nvPr>
            <p:ph sz="half" idx="2"/>
          </p:nvPr>
        </p:nvSpPr>
        <p:spPr>
          <a:xfrm>
            <a:off x="395536" y="1700808"/>
            <a:ext cx="4011872" cy="4425672"/>
          </a:xfrm>
        </p:spPr>
        <p:style>
          <a:lnRef idx="1">
            <a:schemeClr val="accent1"/>
          </a:lnRef>
          <a:fillRef idx="2">
            <a:schemeClr val="accent1"/>
          </a:fillRef>
          <a:effectRef idx="1">
            <a:schemeClr val="accent1"/>
          </a:effectRef>
          <a:fontRef idx="minor">
            <a:schemeClr val="dk1"/>
          </a:fontRef>
        </p:style>
        <p:txBody>
          <a:bodyPr>
            <a:normAutofit fontScale="92500" lnSpcReduction="10000"/>
          </a:bodyPr>
          <a:lstStyle/>
          <a:p>
            <a:pPr marL="0" indent="0">
              <a:buNone/>
            </a:pPr>
            <a:r>
              <a:rPr lang="en-US" dirty="0"/>
              <a:t>Restaurant ( table1) </a:t>
            </a:r>
            <a:endParaRPr lang="en-US" dirty="0" smtClean="0"/>
          </a:p>
          <a:p>
            <a:pPr marL="0" indent="0">
              <a:buNone/>
            </a:pPr>
            <a:r>
              <a:rPr lang="en-US" dirty="0" err="1" smtClean="0"/>
              <a:t>RestaurantId</a:t>
            </a:r>
            <a:r>
              <a:rPr lang="en-US" dirty="0" smtClean="0"/>
              <a:t>                                  </a:t>
            </a:r>
            <a:endParaRPr lang="en-US" dirty="0"/>
          </a:p>
          <a:p>
            <a:pPr marL="0" indent="0">
              <a:buNone/>
            </a:pPr>
            <a:r>
              <a:rPr lang="en-US" dirty="0" err="1"/>
              <a:t>RestaurantName</a:t>
            </a:r>
            <a:r>
              <a:rPr lang="en-US" dirty="0"/>
              <a:t>                           </a:t>
            </a:r>
            <a:r>
              <a:rPr lang="en-US" dirty="0" err="1" smtClean="0"/>
              <a:t>Has_table_booking</a:t>
            </a:r>
            <a:r>
              <a:rPr lang="en-US" dirty="0" smtClean="0"/>
              <a:t>                       </a:t>
            </a:r>
            <a:r>
              <a:rPr lang="en-US" dirty="0" err="1" smtClean="0"/>
              <a:t>Has_online_delivery</a:t>
            </a:r>
            <a:r>
              <a:rPr lang="en-US" dirty="0" smtClean="0"/>
              <a:t>                      </a:t>
            </a:r>
            <a:r>
              <a:rPr lang="en-US" dirty="0" err="1" smtClean="0"/>
              <a:t>Switch_to_order_menu</a:t>
            </a:r>
            <a:endParaRPr lang="en-US" dirty="0"/>
          </a:p>
          <a:p>
            <a:pPr marL="0" indent="0">
              <a:buNone/>
            </a:pPr>
            <a:r>
              <a:rPr lang="en-US" dirty="0" err="1"/>
              <a:t>Is_deliver_now</a:t>
            </a:r>
            <a:r>
              <a:rPr lang="en-US" dirty="0"/>
              <a:t>                               </a:t>
            </a:r>
            <a:r>
              <a:rPr lang="en-US" dirty="0" err="1" smtClean="0"/>
              <a:t>Average_cost_for_two</a:t>
            </a:r>
            <a:r>
              <a:rPr lang="en-US" dirty="0" smtClean="0"/>
              <a:t>                 Rating                                             Votes                                               </a:t>
            </a:r>
            <a:r>
              <a:rPr lang="en-US" dirty="0" err="1" smtClean="0"/>
              <a:t>Price_range</a:t>
            </a:r>
            <a:endParaRPr lang="en-IN" dirty="0"/>
          </a:p>
          <a:p>
            <a:endParaRPr lang="en-IN" dirty="0"/>
          </a:p>
        </p:txBody>
      </p:sp>
    </p:spTree>
    <p:extLst>
      <p:ext uri="{BB962C8B-B14F-4D97-AF65-F5344CB8AC3E}">
        <p14:creationId xmlns:p14="http://schemas.microsoft.com/office/powerpoint/2010/main" val="90760069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260648"/>
            <a:ext cx="8229600" cy="792088"/>
          </a:xfrm>
        </p:spPr>
        <p:style>
          <a:lnRef idx="1">
            <a:schemeClr val="accent1"/>
          </a:lnRef>
          <a:fillRef idx="2">
            <a:schemeClr val="accent1"/>
          </a:fillRef>
          <a:effectRef idx="1">
            <a:schemeClr val="accent1"/>
          </a:effectRef>
          <a:fontRef idx="minor">
            <a:schemeClr val="dk1"/>
          </a:fontRef>
        </p:style>
        <p:txBody>
          <a:bodyPr/>
          <a:lstStyle/>
          <a:p>
            <a:pPr>
              <a:lnSpc>
                <a:spcPct val="100000"/>
              </a:lnSpc>
            </a:pPr>
            <a:r>
              <a:rPr lang="en-US" sz="4000" dirty="0" smtClean="0">
                <a:effectLst/>
              </a:rPr>
              <a:t>Tools And Technique</a:t>
            </a:r>
            <a:endParaRPr lang="en-IN" sz="4000" dirty="0">
              <a:effectLst/>
            </a:endParaRPr>
          </a:p>
        </p:txBody>
      </p:sp>
      <p:sp>
        <p:nvSpPr>
          <p:cNvPr id="6" name="Content Placeholder 5"/>
          <p:cNvSpPr>
            <a:spLocks noGrp="1"/>
          </p:cNvSpPr>
          <p:nvPr>
            <p:ph idx="1"/>
          </p:nvPr>
        </p:nvSpPr>
        <p:spPr>
          <a:xfrm>
            <a:off x="457200" y="1340768"/>
            <a:ext cx="8229600" cy="4785395"/>
          </a:xfrm>
        </p:spPr>
        <p:style>
          <a:lnRef idx="1">
            <a:schemeClr val="accent1"/>
          </a:lnRef>
          <a:fillRef idx="2">
            <a:schemeClr val="accent1"/>
          </a:fillRef>
          <a:effectRef idx="1">
            <a:schemeClr val="accent1"/>
          </a:effectRef>
          <a:fontRef idx="minor">
            <a:schemeClr val="dk1"/>
          </a:fontRef>
        </p:style>
        <p:txBody>
          <a:bodyPr>
            <a:normAutofit/>
          </a:bodyPr>
          <a:lstStyle/>
          <a:p>
            <a:pPr marL="0" indent="0">
              <a:buNone/>
            </a:pPr>
            <a:r>
              <a:rPr lang="en-US" sz="1800" b="1" dirty="0" smtClean="0">
                <a:latin typeface="Times New Roman" panose="02020603050405020304" pitchFamily="18" charset="0"/>
                <a:cs typeface="Times New Roman" panose="02020603050405020304" pitchFamily="18" charset="0"/>
              </a:rPr>
              <a:t>Tools</a:t>
            </a:r>
          </a:p>
          <a:p>
            <a:r>
              <a:rPr lang="en-US" sz="1800" dirty="0" smtClean="0">
                <a:latin typeface="Times New Roman" panose="02020603050405020304" pitchFamily="18" charset="0"/>
                <a:cs typeface="Times New Roman" panose="02020603050405020304" pitchFamily="18" charset="0"/>
              </a:rPr>
              <a:t>SQL</a:t>
            </a:r>
            <a:r>
              <a:rPr lang="en-US" sz="1800" dirty="0">
                <a:latin typeface="Times New Roman" panose="02020603050405020304" pitchFamily="18" charset="0"/>
                <a:cs typeface="Times New Roman" panose="02020603050405020304" pitchFamily="18" charset="0"/>
              </a:rPr>
              <a:t>: Primary tool for querying and analyzing the dataset.</a:t>
            </a:r>
          </a:p>
          <a:p>
            <a:r>
              <a:rPr lang="en-US" sz="1800" dirty="0">
                <a:latin typeface="Times New Roman" panose="02020603050405020304" pitchFamily="18" charset="0"/>
                <a:cs typeface="Times New Roman" panose="02020603050405020304" pitchFamily="18" charset="0"/>
              </a:rPr>
              <a:t>RDBMS: A relational database management system such as MySQL </a:t>
            </a:r>
            <a:r>
              <a:rPr lang="en-US" sz="1800" dirty="0" smtClean="0">
                <a:latin typeface="Times New Roman" panose="02020603050405020304" pitchFamily="18" charset="0"/>
                <a:cs typeface="Times New Roman" panose="02020603050405020304" pitchFamily="18" charset="0"/>
              </a:rPr>
              <a:t>to </a:t>
            </a:r>
            <a:r>
              <a:rPr lang="en-US" sz="1800" dirty="0">
                <a:latin typeface="Times New Roman" panose="02020603050405020304" pitchFamily="18" charset="0"/>
                <a:cs typeface="Times New Roman" panose="02020603050405020304" pitchFamily="18" charset="0"/>
              </a:rPr>
              <a:t>store and manage the </a:t>
            </a:r>
            <a:r>
              <a:rPr lang="en-US" sz="1800" dirty="0" err="1">
                <a:latin typeface="Times New Roman" panose="02020603050405020304" pitchFamily="18" charset="0"/>
                <a:cs typeface="Times New Roman" panose="02020603050405020304" pitchFamily="18" charset="0"/>
              </a:rPr>
              <a:t>Zomato</a:t>
            </a:r>
            <a:r>
              <a:rPr lang="en-US" sz="1800" dirty="0">
                <a:latin typeface="Times New Roman" panose="02020603050405020304" pitchFamily="18" charset="0"/>
                <a:cs typeface="Times New Roman" panose="02020603050405020304" pitchFamily="18" charset="0"/>
              </a:rPr>
              <a:t> dataset.</a:t>
            </a:r>
          </a:p>
          <a:p>
            <a:pPr marL="0" indent="0">
              <a:buNone/>
            </a:pPr>
            <a:r>
              <a:rPr lang="en-US" sz="1800" b="1" dirty="0" smtClean="0">
                <a:latin typeface="Times New Roman" panose="02020603050405020304" pitchFamily="18" charset="0"/>
                <a:cs typeface="Times New Roman" panose="02020603050405020304" pitchFamily="18" charset="0"/>
              </a:rPr>
              <a:t>Technique</a:t>
            </a:r>
            <a:endParaRPr lang="en-US" sz="1800" b="1" dirty="0">
              <a:latin typeface="Times New Roman" panose="02020603050405020304" pitchFamily="18" charset="0"/>
              <a:cs typeface="Times New Roman" panose="02020603050405020304" pitchFamily="18" charset="0"/>
            </a:endParaRPr>
          </a:p>
          <a:p>
            <a:r>
              <a:rPr lang="en-US" sz="1800" dirty="0" smtClean="0">
                <a:latin typeface="Times New Roman" panose="02020603050405020304" pitchFamily="18" charset="0"/>
                <a:cs typeface="Times New Roman" panose="02020603050405020304" pitchFamily="18" charset="0"/>
              </a:rPr>
              <a:t>Data </a:t>
            </a:r>
            <a:r>
              <a:rPr lang="en-US" sz="1800" dirty="0">
                <a:latin typeface="Times New Roman" panose="02020603050405020304" pitchFamily="18" charset="0"/>
                <a:cs typeface="Times New Roman" panose="02020603050405020304" pitchFamily="18" charset="0"/>
              </a:rPr>
              <a:t>Cleaning: Ensuring the dataset is free from inconsistencies and missing values.</a:t>
            </a:r>
          </a:p>
          <a:p>
            <a:r>
              <a:rPr lang="en-US" sz="1800" dirty="0">
                <a:latin typeface="Times New Roman" panose="02020603050405020304" pitchFamily="18" charset="0"/>
                <a:cs typeface="Times New Roman" panose="02020603050405020304" pitchFamily="18" charset="0"/>
              </a:rPr>
              <a:t>Descriptive Analysis: Using SQL queries to summarize the main characteristics of the dataset.</a:t>
            </a:r>
          </a:p>
          <a:p>
            <a:r>
              <a:rPr lang="en-US" sz="1800" dirty="0">
                <a:latin typeface="Times New Roman" panose="02020603050405020304" pitchFamily="18" charset="0"/>
                <a:cs typeface="Times New Roman" panose="02020603050405020304" pitchFamily="18" charset="0"/>
              </a:rPr>
              <a:t>Exploratory Data Analysis (EDA): Diving deeper into the data to find patterns, trends, and relationships.</a:t>
            </a:r>
          </a:p>
          <a:p>
            <a:r>
              <a:rPr lang="en-US" sz="1800" dirty="0">
                <a:latin typeface="Times New Roman" panose="02020603050405020304" pitchFamily="18" charset="0"/>
                <a:cs typeface="Times New Roman" panose="02020603050405020304" pitchFamily="18" charset="0"/>
              </a:rPr>
              <a:t>Aggregations and Grouping: Applying SQL functions to aggregate data for summarization and insights.</a:t>
            </a:r>
          </a:p>
          <a:p>
            <a:r>
              <a:rPr lang="en-US" sz="1800" dirty="0">
                <a:latin typeface="Times New Roman" panose="02020603050405020304" pitchFamily="18" charset="0"/>
                <a:cs typeface="Times New Roman" panose="02020603050405020304" pitchFamily="18" charset="0"/>
              </a:rPr>
              <a:t>Join Operations: Combining data from different tables to enrich the analysis.</a:t>
            </a:r>
          </a:p>
          <a:p>
            <a:pPr marL="0" indent="0">
              <a:buNone/>
            </a:pPr>
            <a:r>
              <a:rPr lang="en-US" sz="1800" dirty="0" smtClean="0">
                <a:latin typeface="Times New Roman" panose="02020603050405020304" pitchFamily="18" charset="0"/>
                <a:cs typeface="Times New Roman" panose="02020603050405020304" pitchFamily="18" charset="0"/>
              </a:rPr>
              <a:t>.</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534962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04664"/>
            <a:ext cx="8229600" cy="792088"/>
          </a:xfrm>
        </p:spPr>
        <p:style>
          <a:lnRef idx="1">
            <a:schemeClr val="accent1"/>
          </a:lnRef>
          <a:fillRef idx="2">
            <a:schemeClr val="accent1"/>
          </a:fillRef>
          <a:effectRef idx="1">
            <a:schemeClr val="accent1"/>
          </a:effectRef>
          <a:fontRef idx="minor">
            <a:schemeClr val="dk1"/>
          </a:fontRef>
        </p:style>
        <p:txBody>
          <a:bodyPr>
            <a:normAutofit/>
          </a:bodyPr>
          <a:lstStyle/>
          <a:p>
            <a:r>
              <a:rPr lang="en-US" sz="4400" smtClean="0">
                <a:effectLst/>
              </a:rPr>
              <a:t>Methodology</a:t>
            </a:r>
            <a:endParaRPr lang="en-IN" sz="4400" dirty="0">
              <a:effectLst/>
            </a:endParaRPr>
          </a:p>
        </p:txBody>
      </p:sp>
      <p:sp>
        <p:nvSpPr>
          <p:cNvPr id="3" name="Content Placeholder 2"/>
          <p:cNvSpPr>
            <a:spLocks noGrp="1"/>
          </p:cNvSpPr>
          <p:nvPr>
            <p:ph idx="1"/>
          </p:nvPr>
        </p:nvSpPr>
        <p:spPr>
          <a:xfrm>
            <a:off x="457200" y="1412776"/>
            <a:ext cx="8229600" cy="4713387"/>
          </a:xfrm>
        </p:spPr>
        <p:style>
          <a:lnRef idx="1">
            <a:schemeClr val="accent1"/>
          </a:lnRef>
          <a:fillRef idx="2">
            <a:schemeClr val="accent1"/>
          </a:fillRef>
          <a:effectRef idx="1">
            <a:schemeClr val="accent1"/>
          </a:effectRef>
          <a:fontRef idx="minor">
            <a:schemeClr val="dk1"/>
          </a:fontRef>
        </p:style>
        <p:txBody>
          <a:bodyPr>
            <a:normAutofit lnSpcReduction="10000"/>
          </a:bodyPr>
          <a:lstStyle/>
          <a:p>
            <a:pPr marL="0" indent="0">
              <a:buNone/>
            </a:pPr>
            <a:r>
              <a:rPr lang="en-US" sz="1600" b="1" smtClean="0">
                <a:latin typeface="Times New Roman" panose="02020603050405020304" pitchFamily="18" charset="0"/>
                <a:cs typeface="Times New Roman" panose="02020603050405020304" pitchFamily="18" charset="0"/>
              </a:rPr>
              <a:t>Data Import and Setup</a:t>
            </a:r>
            <a:r>
              <a:rPr lang="en-US" sz="1600" smtClean="0">
                <a:latin typeface="Times New Roman" panose="02020603050405020304" pitchFamily="18" charset="0"/>
                <a:cs typeface="Times New Roman" panose="02020603050405020304" pitchFamily="18" charset="0"/>
              </a:rPr>
              <a:t>:</a:t>
            </a:r>
          </a:p>
          <a:p>
            <a:r>
              <a:rPr lang="en-US" sz="1600" smtClean="0">
                <a:latin typeface="Times New Roman" panose="02020603050405020304" pitchFamily="18" charset="0"/>
                <a:cs typeface="Times New Roman" panose="02020603050405020304" pitchFamily="18" charset="0"/>
              </a:rPr>
              <a:t>Import the Zomato dataset into an RDBMS.</a:t>
            </a:r>
          </a:p>
          <a:p>
            <a:r>
              <a:rPr lang="en-US" sz="1600" smtClean="0">
                <a:latin typeface="Times New Roman" panose="02020603050405020304" pitchFamily="18" charset="0"/>
                <a:cs typeface="Times New Roman" panose="02020603050405020304" pitchFamily="18" charset="0"/>
              </a:rPr>
              <a:t>Create two tables: one for restaurant details and the other for restaurant location.</a:t>
            </a:r>
          </a:p>
          <a:p>
            <a:pPr marL="0" indent="0">
              <a:buNone/>
            </a:pPr>
            <a:r>
              <a:rPr lang="en-US" sz="1600" b="1" smtClean="0">
                <a:latin typeface="Times New Roman" panose="02020603050405020304" pitchFamily="18" charset="0"/>
                <a:cs typeface="Times New Roman" panose="02020603050405020304" pitchFamily="18" charset="0"/>
              </a:rPr>
              <a:t>Data Cleaning</a:t>
            </a:r>
            <a:r>
              <a:rPr lang="en-US" sz="1600" smtClean="0">
                <a:latin typeface="Times New Roman" panose="02020603050405020304" pitchFamily="18" charset="0"/>
                <a:cs typeface="Times New Roman" panose="02020603050405020304" pitchFamily="18" charset="0"/>
              </a:rPr>
              <a:t>:</a:t>
            </a:r>
          </a:p>
          <a:p>
            <a:r>
              <a:rPr lang="en-US" sz="1600" smtClean="0">
                <a:latin typeface="Times New Roman" panose="02020603050405020304" pitchFamily="18" charset="0"/>
                <a:cs typeface="Times New Roman" panose="02020603050405020304" pitchFamily="18" charset="0"/>
              </a:rPr>
              <a:t>Inspect the dataset for missing or inconsistent values.</a:t>
            </a:r>
          </a:p>
          <a:p>
            <a:r>
              <a:rPr lang="en-US" sz="1600" smtClean="0">
                <a:latin typeface="Times New Roman" panose="02020603050405020304" pitchFamily="18" charset="0"/>
                <a:cs typeface="Times New Roman" panose="02020603050405020304" pitchFamily="18" charset="0"/>
              </a:rPr>
              <a:t>Perform necessary data cleaning operations to ensure data quality.</a:t>
            </a:r>
          </a:p>
          <a:p>
            <a:pPr marL="0" indent="0">
              <a:buNone/>
            </a:pPr>
            <a:r>
              <a:rPr lang="en-US" sz="1600" b="1" smtClean="0">
                <a:latin typeface="Times New Roman" panose="02020603050405020304" pitchFamily="18" charset="0"/>
                <a:cs typeface="Times New Roman" panose="02020603050405020304" pitchFamily="18" charset="0"/>
              </a:rPr>
              <a:t>Data Exploration</a:t>
            </a:r>
            <a:r>
              <a:rPr lang="en-US" sz="1600" smtClean="0">
                <a:latin typeface="Times New Roman" panose="02020603050405020304" pitchFamily="18" charset="0"/>
                <a:cs typeface="Times New Roman" panose="02020603050405020304" pitchFamily="18" charset="0"/>
              </a:rPr>
              <a:t>:</a:t>
            </a:r>
          </a:p>
          <a:p>
            <a:r>
              <a:rPr lang="en-US" sz="1600" smtClean="0">
                <a:latin typeface="Times New Roman" panose="02020603050405020304" pitchFamily="18" charset="0"/>
                <a:cs typeface="Times New Roman" panose="02020603050405020304" pitchFamily="18" charset="0"/>
              </a:rPr>
              <a:t>Perform basic queries to understand the distribution of restaurants across cities and countries.</a:t>
            </a:r>
          </a:p>
          <a:p>
            <a:r>
              <a:rPr lang="en-US" sz="1600" smtClean="0">
                <a:latin typeface="Times New Roman" panose="02020603050405020304" pitchFamily="18" charset="0"/>
                <a:cs typeface="Times New Roman" panose="02020603050405020304" pitchFamily="18" charset="0"/>
              </a:rPr>
              <a:t>Analyze the various cuisine types available and their prevalence.</a:t>
            </a:r>
          </a:p>
          <a:p>
            <a:pPr marL="0" indent="0">
              <a:buNone/>
            </a:pPr>
            <a:r>
              <a:rPr lang="en-US" sz="1600" b="1" smtClean="0">
                <a:latin typeface="Times New Roman" panose="02020603050405020304" pitchFamily="18" charset="0"/>
                <a:cs typeface="Times New Roman" panose="02020603050405020304" pitchFamily="18" charset="0"/>
              </a:rPr>
              <a:t>Descriptive Analysis:</a:t>
            </a:r>
          </a:p>
          <a:p>
            <a:r>
              <a:rPr lang="en-US" sz="1600" smtClean="0">
                <a:latin typeface="Times New Roman" panose="02020603050405020304" pitchFamily="18" charset="0"/>
                <a:cs typeface="Times New Roman" panose="02020603050405020304" pitchFamily="18" charset="0"/>
              </a:rPr>
              <a:t>Calculate average ratings and cost for two across different cities and cuisines.</a:t>
            </a:r>
          </a:p>
          <a:p>
            <a:r>
              <a:rPr lang="en-US" sz="1600" smtClean="0">
                <a:latin typeface="Times New Roman" panose="02020603050405020304" pitchFamily="18" charset="0"/>
                <a:cs typeface="Times New Roman" panose="02020603050405020304" pitchFamily="18" charset="0"/>
              </a:rPr>
              <a:t>Identify the number of restaurants offering online delivery or table booking.</a:t>
            </a:r>
          </a:p>
          <a:p>
            <a:pPr marL="0" indent="0">
              <a:buNone/>
            </a:pPr>
            <a:r>
              <a:rPr lang="en-US" sz="1600" b="1" smtClean="0">
                <a:latin typeface="Times New Roman" panose="02020603050405020304" pitchFamily="18" charset="0"/>
                <a:cs typeface="Times New Roman" panose="02020603050405020304" pitchFamily="18" charset="0"/>
              </a:rPr>
              <a:t>Advanced Analysis</a:t>
            </a:r>
            <a:r>
              <a:rPr lang="en-US" sz="1600" smtClean="0">
                <a:latin typeface="Times New Roman" panose="02020603050405020304" pitchFamily="18" charset="0"/>
                <a:cs typeface="Times New Roman" panose="02020603050405020304" pitchFamily="18" charset="0"/>
              </a:rPr>
              <a:t>:</a:t>
            </a:r>
          </a:p>
          <a:p>
            <a:r>
              <a:rPr lang="en-US" sz="1600" smtClean="0">
                <a:latin typeface="Times New Roman" panose="02020603050405020304" pitchFamily="18" charset="0"/>
                <a:cs typeface="Times New Roman" panose="02020603050405020304" pitchFamily="18" charset="0"/>
              </a:rPr>
              <a:t>Use JOIN operations to combine data from different tables for enriched insights.</a:t>
            </a:r>
          </a:p>
          <a:p>
            <a:r>
              <a:rPr lang="en-US" sz="1600" smtClean="0">
                <a:latin typeface="Times New Roman" panose="02020603050405020304" pitchFamily="18" charset="0"/>
                <a:cs typeface="Times New Roman" panose="02020603050405020304" pitchFamily="18" charset="0"/>
              </a:rPr>
              <a:t>Apply aggregation and grouping to find the most popular cuisines and the cities with the highest-rated restaurants.</a:t>
            </a:r>
          </a:p>
          <a:p>
            <a:pPr marL="0" indent="0">
              <a:buNone/>
            </a:pP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670581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332656"/>
            <a:ext cx="8219256" cy="1008112"/>
          </a:xfrm>
        </p:spPr>
        <p:style>
          <a:lnRef idx="1">
            <a:schemeClr val="accent1"/>
          </a:lnRef>
          <a:fillRef idx="2">
            <a:schemeClr val="accent1"/>
          </a:fillRef>
          <a:effectRef idx="1">
            <a:schemeClr val="accent1"/>
          </a:effectRef>
          <a:fontRef idx="minor">
            <a:schemeClr val="dk1"/>
          </a:fontRef>
        </p:style>
        <p:txBody>
          <a:bodyPr/>
          <a:lstStyle/>
          <a:p>
            <a:r>
              <a:rPr lang="en-US" sz="2400" dirty="0"/>
              <a:t>List the total number of restaurants in each country</a:t>
            </a:r>
            <a:endParaRPr lang="en-IN" sz="2400" dirty="0"/>
          </a:p>
        </p:txBody>
      </p:sp>
      <p:sp>
        <p:nvSpPr>
          <p:cNvPr id="3" name="Content Placeholder 2"/>
          <p:cNvSpPr>
            <a:spLocks noGrp="1"/>
          </p:cNvSpPr>
          <p:nvPr>
            <p:ph idx="1"/>
          </p:nvPr>
        </p:nvSpPr>
        <p:spPr>
          <a:xfrm>
            <a:off x="467544" y="1447800"/>
            <a:ext cx="8219256" cy="4572000"/>
          </a:xfrm>
        </p:spPr>
        <p:style>
          <a:lnRef idx="1">
            <a:schemeClr val="accent1"/>
          </a:lnRef>
          <a:fillRef idx="2">
            <a:schemeClr val="accent1"/>
          </a:fillRef>
          <a:effectRef idx="1">
            <a:schemeClr val="accent1"/>
          </a:effectRef>
          <a:fontRef idx="minor">
            <a:schemeClr val="dk1"/>
          </a:fontRef>
        </p:style>
        <p:txBody>
          <a:bodyPr>
            <a:normAutofit/>
          </a:bodyPr>
          <a:lstStyle/>
          <a:p>
            <a:pPr marL="0" indent="0">
              <a:buNone/>
            </a:pPr>
            <a:r>
              <a:rPr lang="en-US" sz="1400" b="1" dirty="0" smtClean="0">
                <a:latin typeface="Times New Roman" panose="02020603050405020304" pitchFamily="18" charset="0"/>
              </a:rPr>
              <a:t>SELECT </a:t>
            </a:r>
          </a:p>
          <a:p>
            <a:pPr marL="0" indent="0">
              <a:buNone/>
            </a:pPr>
            <a:r>
              <a:rPr lang="en-US" sz="1400" b="1" dirty="0" smtClean="0">
                <a:latin typeface="Times New Roman" panose="02020603050405020304" pitchFamily="18" charset="0"/>
              </a:rPr>
              <a:t>    Country, COUNT(*) AS </a:t>
            </a:r>
            <a:r>
              <a:rPr lang="en-US" sz="1400" b="1" dirty="0" err="1" smtClean="0">
                <a:latin typeface="Times New Roman" panose="02020603050405020304" pitchFamily="18" charset="0"/>
              </a:rPr>
              <a:t>Total_No_of_Restaurant</a:t>
            </a:r>
            <a:endParaRPr lang="en-US" sz="1400" b="1" dirty="0" smtClean="0">
              <a:latin typeface="Times New Roman" panose="02020603050405020304" pitchFamily="18" charset="0"/>
            </a:endParaRPr>
          </a:p>
          <a:p>
            <a:pPr marL="0" indent="0">
              <a:buNone/>
            </a:pPr>
            <a:r>
              <a:rPr lang="en-US" sz="1400" b="1" dirty="0" smtClean="0">
                <a:latin typeface="Times New Roman" panose="02020603050405020304" pitchFamily="18" charset="0"/>
              </a:rPr>
              <a:t>FROM</a:t>
            </a:r>
          </a:p>
          <a:p>
            <a:pPr marL="0" indent="0">
              <a:buNone/>
            </a:pPr>
            <a:r>
              <a:rPr lang="en-US" sz="1400" b="1" dirty="0" smtClean="0">
                <a:latin typeface="Times New Roman" panose="02020603050405020304" pitchFamily="18" charset="0"/>
              </a:rPr>
              <a:t>    </a:t>
            </a:r>
            <a:r>
              <a:rPr lang="en-US" sz="1400" b="1" dirty="0" err="1" smtClean="0">
                <a:latin typeface="Times New Roman" panose="02020603050405020304" pitchFamily="18" charset="0"/>
              </a:rPr>
              <a:t>restaurant_addresss</a:t>
            </a:r>
            <a:endParaRPr lang="en-US" sz="1400" b="1" dirty="0" smtClean="0">
              <a:latin typeface="Times New Roman" panose="02020603050405020304" pitchFamily="18" charset="0"/>
            </a:endParaRPr>
          </a:p>
          <a:p>
            <a:pPr marL="0" indent="0">
              <a:buNone/>
            </a:pPr>
            <a:r>
              <a:rPr lang="en-US" sz="1400" b="1" dirty="0" smtClean="0">
                <a:latin typeface="Times New Roman" panose="02020603050405020304" pitchFamily="18" charset="0"/>
              </a:rPr>
              <a:t>GROUP BY Country</a:t>
            </a:r>
          </a:p>
          <a:p>
            <a:pPr marL="0" indent="0">
              <a:buNone/>
            </a:pPr>
            <a:r>
              <a:rPr lang="en-US" sz="1400" b="1" dirty="0" smtClean="0">
                <a:latin typeface="Times New Roman" panose="02020603050405020304" pitchFamily="18" charset="0"/>
              </a:rPr>
              <a:t>ORDER BY </a:t>
            </a:r>
            <a:r>
              <a:rPr lang="en-US" sz="1400" b="1" dirty="0" err="1" smtClean="0">
                <a:latin typeface="Times New Roman" panose="02020603050405020304" pitchFamily="18" charset="0"/>
              </a:rPr>
              <a:t>Total_No_of_Restaurant</a:t>
            </a:r>
            <a:r>
              <a:rPr lang="en-US" sz="1400" b="1" dirty="0" smtClean="0">
                <a:latin typeface="Times New Roman" panose="02020603050405020304" pitchFamily="18" charset="0"/>
              </a:rPr>
              <a:t> DESC;</a:t>
            </a:r>
          </a:p>
          <a:p>
            <a:pPr marL="0" indent="0">
              <a:buNone/>
            </a:pPr>
            <a:endParaRPr lang="en-IN" sz="1400" b="1" dirty="0">
              <a:latin typeface="Times New Roman" panose="02020603050405020304" pitchFamily="18"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584" y="3284984"/>
            <a:ext cx="5616624" cy="26623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7726744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60648"/>
            <a:ext cx="8229600" cy="720080"/>
          </a:xfrm>
        </p:spPr>
        <p:style>
          <a:lnRef idx="1">
            <a:schemeClr val="accent1"/>
          </a:lnRef>
          <a:fillRef idx="2">
            <a:schemeClr val="accent1"/>
          </a:fillRef>
          <a:effectRef idx="1">
            <a:schemeClr val="accent1"/>
          </a:effectRef>
          <a:fontRef idx="minor">
            <a:schemeClr val="dk1"/>
          </a:fontRef>
        </p:style>
        <p:txBody>
          <a:bodyPr>
            <a:normAutofit/>
          </a:bodyPr>
          <a:lstStyle/>
          <a:p>
            <a:r>
              <a:rPr lang="en-US" sz="2400" dirty="0">
                <a:effectLst/>
              </a:rPr>
              <a:t>Find the average price range of restaurants in each city</a:t>
            </a:r>
            <a:endParaRPr lang="en-IN" sz="2400" dirty="0">
              <a:effectLst/>
            </a:endParaRPr>
          </a:p>
        </p:txBody>
      </p:sp>
      <p:sp>
        <p:nvSpPr>
          <p:cNvPr id="3" name="Content Placeholder 2"/>
          <p:cNvSpPr>
            <a:spLocks noGrp="1"/>
          </p:cNvSpPr>
          <p:nvPr>
            <p:ph idx="1"/>
          </p:nvPr>
        </p:nvSpPr>
        <p:spPr>
          <a:xfrm>
            <a:off x="467544" y="1235893"/>
            <a:ext cx="8219256" cy="4929411"/>
          </a:xfrm>
        </p:spPr>
        <p:style>
          <a:lnRef idx="1">
            <a:schemeClr val="accent1"/>
          </a:lnRef>
          <a:fillRef idx="2">
            <a:schemeClr val="accent1"/>
          </a:fillRef>
          <a:effectRef idx="1">
            <a:schemeClr val="accent1"/>
          </a:effectRef>
          <a:fontRef idx="minor">
            <a:schemeClr val="dk1"/>
          </a:fontRef>
        </p:style>
        <p:txBody>
          <a:bodyPr>
            <a:normAutofit/>
          </a:bodyPr>
          <a:lstStyle/>
          <a:p>
            <a:pPr marL="0" indent="0">
              <a:buNone/>
            </a:pPr>
            <a:r>
              <a:rPr lang="en-US" sz="1400" dirty="0">
                <a:latin typeface="Times New Roman" panose="02020603050405020304" pitchFamily="18" charset="0"/>
              </a:rPr>
              <a:t>SELECT </a:t>
            </a:r>
          </a:p>
          <a:p>
            <a:pPr marL="0" indent="0">
              <a:buNone/>
            </a:pPr>
            <a:r>
              <a:rPr lang="en-US" sz="1400" dirty="0">
                <a:latin typeface="Times New Roman" panose="02020603050405020304" pitchFamily="18" charset="0"/>
              </a:rPr>
              <a:t>    City, AVG(</a:t>
            </a:r>
            <a:r>
              <a:rPr lang="en-US" sz="1400" dirty="0" err="1">
                <a:latin typeface="Times New Roman" panose="02020603050405020304" pitchFamily="18" charset="0"/>
              </a:rPr>
              <a:t>Price_range</a:t>
            </a:r>
            <a:r>
              <a:rPr lang="en-US" sz="1400" dirty="0">
                <a:latin typeface="Times New Roman" panose="02020603050405020304" pitchFamily="18" charset="0"/>
              </a:rPr>
              <a:t>) AS </a:t>
            </a:r>
            <a:r>
              <a:rPr lang="en-US" sz="1400" dirty="0" err="1">
                <a:latin typeface="Times New Roman" panose="02020603050405020304" pitchFamily="18" charset="0"/>
              </a:rPr>
              <a:t>Avg_PriceRange</a:t>
            </a:r>
            <a:endParaRPr lang="en-US" sz="1400" dirty="0">
              <a:latin typeface="Times New Roman" panose="02020603050405020304" pitchFamily="18" charset="0"/>
            </a:endParaRPr>
          </a:p>
          <a:p>
            <a:pPr marL="0" indent="0">
              <a:buNone/>
            </a:pPr>
            <a:r>
              <a:rPr lang="en-US" sz="1400" dirty="0">
                <a:latin typeface="Times New Roman" panose="02020603050405020304" pitchFamily="18" charset="0"/>
              </a:rPr>
              <a:t>FROM</a:t>
            </a:r>
          </a:p>
          <a:p>
            <a:pPr marL="0" indent="0">
              <a:buNone/>
            </a:pPr>
            <a:r>
              <a:rPr lang="en-US" sz="1400" dirty="0">
                <a:latin typeface="Times New Roman" panose="02020603050405020304" pitchFamily="18" charset="0"/>
              </a:rPr>
              <a:t>    </a:t>
            </a:r>
            <a:r>
              <a:rPr lang="en-US" sz="1400" dirty="0" err="1">
                <a:latin typeface="Times New Roman" panose="02020603050405020304" pitchFamily="18" charset="0"/>
              </a:rPr>
              <a:t>restaurant_addresss</a:t>
            </a:r>
            <a:endParaRPr lang="en-US" sz="1400" dirty="0">
              <a:latin typeface="Times New Roman" panose="02020603050405020304" pitchFamily="18" charset="0"/>
            </a:endParaRPr>
          </a:p>
          <a:p>
            <a:pPr marL="0" indent="0">
              <a:buNone/>
            </a:pPr>
            <a:r>
              <a:rPr lang="en-US" sz="1400" dirty="0">
                <a:latin typeface="Times New Roman" panose="02020603050405020304" pitchFamily="18" charset="0"/>
              </a:rPr>
              <a:t>        JOIN</a:t>
            </a:r>
          </a:p>
          <a:p>
            <a:pPr marL="0" indent="0">
              <a:buNone/>
            </a:pPr>
            <a:r>
              <a:rPr lang="en-US" sz="1400" dirty="0">
                <a:latin typeface="Times New Roman" panose="02020603050405020304" pitchFamily="18" charset="0"/>
              </a:rPr>
              <a:t>    restaurant ON </a:t>
            </a:r>
            <a:r>
              <a:rPr lang="en-US" sz="1400" dirty="0" err="1">
                <a:latin typeface="Times New Roman" panose="02020603050405020304" pitchFamily="18" charset="0"/>
              </a:rPr>
              <a:t>restaurant_addresss.RestaurantId</a:t>
            </a:r>
            <a:r>
              <a:rPr lang="en-US" sz="1400" dirty="0">
                <a:latin typeface="Times New Roman" panose="02020603050405020304" pitchFamily="18" charset="0"/>
              </a:rPr>
              <a:t> = </a:t>
            </a:r>
            <a:r>
              <a:rPr lang="en-US" sz="1400" dirty="0" err="1">
                <a:latin typeface="Times New Roman" panose="02020603050405020304" pitchFamily="18" charset="0"/>
              </a:rPr>
              <a:t>restaurant.RestaurantId</a:t>
            </a:r>
            <a:endParaRPr lang="en-US" sz="1400" dirty="0">
              <a:latin typeface="Times New Roman" panose="02020603050405020304" pitchFamily="18" charset="0"/>
            </a:endParaRPr>
          </a:p>
          <a:p>
            <a:pPr marL="0" indent="0">
              <a:buNone/>
            </a:pPr>
            <a:r>
              <a:rPr lang="en-US" sz="1400" dirty="0">
                <a:latin typeface="Times New Roman" panose="02020603050405020304" pitchFamily="18" charset="0"/>
              </a:rPr>
              <a:t>GROUP BY City</a:t>
            </a:r>
          </a:p>
          <a:p>
            <a:pPr marL="0" indent="0">
              <a:buNone/>
            </a:pPr>
            <a:r>
              <a:rPr lang="en-US" sz="1400" dirty="0">
                <a:latin typeface="Times New Roman" panose="02020603050405020304" pitchFamily="18" charset="0"/>
              </a:rPr>
              <a:t>ORDER BY </a:t>
            </a:r>
            <a:r>
              <a:rPr lang="en-US" sz="1400" dirty="0" err="1">
                <a:latin typeface="Times New Roman" panose="02020603050405020304" pitchFamily="18" charset="0"/>
              </a:rPr>
              <a:t>Avg_PriceRange</a:t>
            </a:r>
            <a:r>
              <a:rPr lang="en-US" sz="1400" dirty="0">
                <a:latin typeface="Times New Roman" panose="02020603050405020304" pitchFamily="18" charset="0"/>
              </a:rPr>
              <a:t> </a:t>
            </a:r>
            <a:r>
              <a:rPr lang="en-US" sz="1400" dirty="0" smtClean="0">
                <a:latin typeface="Times New Roman" panose="02020603050405020304" pitchFamily="18" charset="0"/>
              </a:rPr>
              <a:t>DESC;</a:t>
            </a:r>
          </a:p>
          <a:p>
            <a:pPr marL="0" indent="0">
              <a:buNone/>
            </a:pPr>
            <a:endParaRPr lang="en-US" sz="1400" dirty="0">
              <a:latin typeface="Times New Roman" panose="02020603050405020304" pitchFamily="18" charset="0"/>
            </a:endParaRPr>
          </a:p>
          <a:p>
            <a:pPr marL="0" indent="0">
              <a:buNone/>
            </a:pPr>
            <a:endParaRPr lang="en-IN" sz="1400" dirty="0">
              <a:latin typeface="Times New Roman" panose="02020603050405020304" pitchFamily="18" charset="0"/>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640" y="3645024"/>
            <a:ext cx="3744416" cy="2219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8853832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188640"/>
            <a:ext cx="8147248" cy="720080"/>
          </a:xfrm>
        </p:spPr>
        <p:style>
          <a:lnRef idx="1">
            <a:schemeClr val="accent1"/>
          </a:lnRef>
          <a:fillRef idx="2">
            <a:schemeClr val="accent1"/>
          </a:fillRef>
          <a:effectRef idx="1">
            <a:schemeClr val="accent1"/>
          </a:effectRef>
          <a:fontRef idx="minor">
            <a:schemeClr val="dk1"/>
          </a:fontRef>
        </p:style>
        <p:txBody>
          <a:bodyPr/>
          <a:lstStyle/>
          <a:p>
            <a:pPr>
              <a:lnSpc>
                <a:spcPct val="100000"/>
              </a:lnSpc>
            </a:pPr>
            <a:r>
              <a:rPr lang="en-US" sz="1800" dirty="0">
                <a:effectLst/>
              </a:rPr>
              <a:t>Get the names of all restaurants along with their cuisines and average cost for two, ordered by cost in descending order.</a:t>
            </a:r>
            <a:endParaRPr lang="en-IN" sz="1800" dirty="0">
              <a:effectLst/>
            </a:endParaRPr>
          </a:p>
        </p:txBody>
      </p:sp>
      <p:sp>
        <p:nvSpPr>
          <p:cNvPr id="3" name="Content Placeholder 2"/>
          <p:cNvSpPr>
            <a:spLocks noGrp="1"/>
          </p:cNvSpPr>
          <p:nvPr>
            <p:ph idx="1"/>
          </p:nvPr>
        </p:nvSpPr>
        <p:spPr>
          <a:xfrm>
            <a:off x="457200" y="1196752"/>
            <a:ext cx="8229600" cy="4929411"/>
          </a:xfrm>
        </p:spPr>
        <p:style>
          <a:lnRef idx="1">
            <a:schemeClr val="accent1"/>
          </a:lnRef>
          <a:fillRef idx="2">
            <a:schemeClr val="accent1"/>
          </a:fillRef>
          <a:effectRef idx="1">
            <a:schemeClr val="accent1"/>
          </a:effectRef>
          <a:fontRef idx="minor">
            <a:schemeClr val="dk1"/>
          </a:fontRef>
        </p:style>
        <p:txBody>
          <a:bodyPr/>
          <a:lstStyle/>
          <a:p>
            <a:pPr marL="0" indent="0">
              <a:buNone/>
            </a:pPr>
            <a:r>
              <a:rPr lang="en-IN" sz="1400" dirty="0">
                <a:latin typeface="Times New Roman" panose="02020603050405020304" pitchFamily="18" charset="0"/>
              </a:rPr>
              <a:t>SELECT </a:t>
            </a:r>
          </a:p>
          <a:p>
            <a:pPr marL="0" indent="0">
              <a:buNone/>
            </a:pPr>
            <a:r>
              <a:rPr lang="en-IN" sz="1400" dirty="0">
                <a:latin typeface="Times New Roman" panose="02020603050405020304" pitchFamily="18" charset="0"/>
              </a:rPr>
              <a:t>    </a:t>
            </a:r>
            <a:r>
              <a:rPr lang="en-IN" sz="1400" dirty="0" err="1">
                <a:latin typeface="Times New Roman" panose="02020603050405020304" pitchFamily="18" charset="0"/>
              </a:rPr>
              <a:t>restaurant.RestaurantId</a:t>
            </a:r>
            <a:r>
              <a:rPr lang="en-IN" sz="1400" dirty="0">
                <a:latin typeface="Times New Roman" panose="02020603050405020304" pitchFamily="18" charset="0"/>
              </a:rPr>
              <a:t>,</a:t>
            </a:r>
          </a:p>
          <a:p>
            <a:pPr marL="0" indent="0">
              <a:buNone/>
            </a:pPr>
            <a:r>
              <a:rPr lang="en-IN" sz="1400" dirty="0">
                <a:latin typeface="Times New Roman" panose="02020603050405020304" pitchFamily="18" charset="0"/>
              </a:rPr>
              <a:t>    </a:t>
            </a:r>
            <a:r>
              <a:rPr lang="en-IN" sz="1400" dirty="0" err="1">
                <a:latin typeface="Times New Roman" panose="02020603050405020304" pitchFamily="18" charset="0"/>
              </a:rPr>
              <a:t>RestaurantName</a:t>
            </a:r>
            <a:r>
              <a:rPr lang="en-IN" sz="1400" dirty="0">
                <a:latin typeface="Times New Roman" panose="02020603050405020304" pitchFamily="18" charset="0"/>
              </a:rPr>
              <a:t>,</a:t>
            </a:r>
          </a:p>
          <a:p>
            <a:pPr marL="0" indent="0">
              <a:buNone/>
            </a:pPr>
            <a:r>
              <a:rPr lang="en-IN" sz="1400" dirty="0">
                <a:latin typeface="Times New Roman" panose="02020603050405020304" pitchFamily="18" charset="0"/>
              </a:rPr>
              <a:t>    Cuisines,</a:t>
            </a:r>
          </a:p>
          <a:p>
            <a:pPr marL="0" indent="0">
              <a:buNone/>
            </a:pPr>
            <a:r>
              <a:rPr lang="en-IN" sz="1400" dirty="0">
                <a:latin typeface="Times New Roman" panose="02020603050405020304" pitchFamily="18" charset="0"/>
              </a:rPr>
              <a:t>    </a:t>
            </a:r>
            <a:r>
              <a:rPr lang="en-IN" sz="1400" dirty="0" err="1">
                <a:latin typeface="Times New Roman" panose="02020603050405020304" pitchFamily="18" charset="0"/>
              </a:rPr>
              <a:t>Average_cost_for_two</a:t>
            </a:r>
            <a:endParaRPr lang="en-IN" sz="1400" dirty="0">
              <a:latin typeface="Times New Roman" panose="02020603050405020304" pitchFamily="18" charset="0"/>
            </a:endParaRPr>
          </a:p>
          <a:p>
            <a:pPr marL="0" indent="0">
              <a:buNone/>
            </a:pPr>
            <a:r>
              <a:rPr lang="en-IN" sz="1400" dirty="0">
                <a:latin typeface="Times New Roman" panose="02020603050405020304" pitchFamily="18" charset="0"/>
              </a:rPr>
              <a:t>FROM</a:t>
            </a:r>
          </a:p>
          <a:p>
            <a:pPr marL="0" indent="0">
              <a:buNone/>
            </a:pPr>
            <a:r>
              <a:rPr lang="en-IN" sz="1400" dirty="0">
                <a:latin typeface="Times New Roman" panose="02020603050405020304" pitchFamily="18" charset="0"/>
              </a:rPr>
              <a:t>    restaurant</a:t>
            </a:r>
          </a:p>
          <a:p>
            <a:pPr marL="0" indent="0">
              <a:buNone/>
            </a:pPr>
            <a:r>
              <a:rPr lang="en-IN" sz="1400" dirty="0">
                <a:latin typeface="Times New Roman" panose="02020603050405020304" pitchFamily="18" charset="0"/>
              </a:rPr>
              <a:t>        JOIN</a:t>
            </a:r>
          </a:p>
          <a:p>
            <a:pPr marL="0" indent="0">
              <a:buNone/>
            </a:pPr>
            <a:r>
              <a:rPr lang="en-IN" sz="1400" dirty="0">
                <a:latin typeface="Times New Roman" panose="02020603050405020304" pitchFamily="18" charset="0"/>
              </a:rPr>
              <a:t>    </a:t>
            </a:r>
            <a:r>
              <a:rPr lang="en-IN" sz="1400" dirty="0" err="1">
                <a:latin typeface="Times New Roman" panose="02020603050405020304" pitchFamily="18" charset="0"/>
              </a:rPr>
              <a:t>restaurant_addresss</a:t>
            </a:r>
            <a:r>
              <a:rPr lang="en-IN" sz="1400" dirty="0">
                <a:latin typeface="Times New Roman" panose="02020603050405020304" pitchFamily="18" charset="0"/>
              </a:rPr>
              <a:t> ON </a:t>
            </a:r>
            <a:r>
              <a:rPr lang="en-IN" sz="1400" dirty="0" err="1">
                <a:latin typeface="Times New Roman" panose="02020603050405020304" pitchFamily="18" charset="0"/>
              </a:rPr>
              <a:t>restaurant.RestaurantId</a:t>
            </a:r>
            <a:r>
              <a:rPr lang="en-IN" sz="1400" dirty="0">
                <a:latin typeface="Times New Roman" panose="02020603050405020304" pitchFamily="18" charset="0"/>
              </a:rPr>
              <a:t> = </a:t>
            </a:r>
            <a:r>
              <a:rPr lang="en-IN" sz="1400" dirty="0" err="1">
                <a:latin typeface="Times New Roman" panose="02020603050405020304" pitchFamily="18" charset="0"/>
              </a:rPr>
              <a:t>restaurant_addresss.RestaurantId</a:t>
            </a:r>
            <a:endParaRPr lang="en-IN" sz="1400" dirty="0">
              <a:latin typeface="Times New Roman" panose="02020603050405020304" pitchFamily="18" charset="0"/>
            </a:endParaRPr>
          </a:p>
          <a:p>
            <a:pPr marL="0" indent="0">
              <a:buNone/>
            </a:pPr>
            <a:r>
              <a:rPr lang="en-IN" sz="1400" dirty="0">
                <a:latin typeface="Times New Roman" panose="02020603050405020304" pitchFamily="18" charset="0"/>
              </a:rPr>
              <a:t>ORDER BY </a:t>
            </a:r>
            <a:r>
              <a:rPr lang="en-IN" sz="1400" dirty="0" err="1">
                <a:latin typeface="Times New Roman" panose="02020603050405020304" pitchFamily="18" charset="0"/>
              </a:rPr>
              <a:t>Average_cost_for_two</a:t>
            </a:r>
            <a:r>
              <a:rPr lang="en-IN" sz="1400" dirty="0">
                <a:latin typeface="Times New Roman" panose="02020603050405020304" pitchFamily="18" charset="0"/>
              </a:rPr>
              <a:t> DESC;</a:t>
            </a:r>
          </a:p>
          <a:p>
            <a:pPr marL="0" indent="0">
              <a:buNone/>
            </a:pPr>
            <a:endParaRPr lang="en-IN" dirty="0">
              <a:latin typeface="Times New Roman" panose="02020603050405020304" pitchFamily="18"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600" y="3861048"/>
            <a:ext cx="7107886" cy="1728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9084367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7802" y="332656"/>
            <a:ext cx="8147248" cy="792088"/>
          </a:xfrm>
        </p:spPr>
        <p:style>
          <a:lnRef idx="1">
            <a:schemeClr val="accent1"/>
          </a:lnRef>
          <a:fillRef idx="2">
            <a:schemeClr val="accent1"/>
          </a:fillRef>
          <a:effectRef idx="1">
            <a:schemeClr val="accent1"/>
          </a:effectRef>
          <a:fontRef idx="minor">
            <a:schemeClr val="dk1"/>
          </a:fontRef>
        </p:style>
        <p:txBody>
          <a:bodyPr/>
          <a:lstStyle/>
          <a:p>
            <a:pPr>
              <a:lnSpc>
                <a:spcPct val="100000"/>
              </a:lnSpc>
            </a:pPr>
            <a:r>
              <a:rPr lang="en-US" sz="1800" dirty="0">
                <a:effectLst/>
              </a:rPr>
              <a:t>Count the number of restaurants that have online delivery available in each country</a:t>
            </a:r>
            <a:endParaRPr lang="en-IN" sz="1800" dirty="0">
              <a:effectLst/>
            </a:endParaRPr>
          </a:p>
        </p:txBody>
      </p:sp>
      <p:sp>
        <p:nvSpPr>
          <p:cNvPr id="3" name="Content Placeholder 2"/>
          <p:cNvSpPr>
            <a:spLocks noGrp="1"/>
          </p:cNvSpPr>
          <p:nvPr>
            <p:ph idx="1"/>
          </p:nvPr>
        </p:nvSpPr>
        <p:spPr>
          <a:xfrm>
            <a:off x="467544" y="1412776"/>
            <a:ext cx="8219256" cy="4713387"/>
          </a:xfrm>
        </p:spPr>
        <p:style>
          <a:lnRef idx="1">
            <a:schemeClr val="accent1"/>
          </a:lnRef>
          <a:fillRef idx="2">
            <a:schemeClr val="accent1"/>
          </a:fillRef>
          <a:effectRef idx="1">
            <a:schemeClr val="accent1"/>
          </a:effectRef>
          <a:fontRef idx="minor">
            <a:schemeClr val="dk1"/>
          </a:fontRef>
        </p:style>
        <p:txBody>
          <a:bodyPr>
            <a:normAutofit/>
          </a:bodyPr>
          <a:lstStyle/>
          <a:p>
            <a:pPr marL="0" indent="0">
              <a:buNone/>
            </a:pPr>
            <a:r>
              <a:rPr lang="en-US" sz="1400" dirty="0">
                <a:latin typeface="Times New Roman" panose="02020603050405020304" pitchFamily="18" charset="0"/>
              </a:rPr>
              <a:t>SELECT </a:t>
            </a:r>
          </a:p>
          <a:p>
            <a:pPr marL="0" indent="0">
              <a:buNone/>
            </a:pPr>
            <a:r>
              <a:rPr lang="en-US" sz="1400" dirty="0">
                <a:latin typeface="Times New Roman" panose="02020603050405020304" pitchFamily="18" charset="0"/>
              </a:rPr>
              <a:t>    Country,</a:t>
            </a:r>
          </a:p>
          <a:p>
            <a:pPr marL="0" indent="0">
              <a:buNone/>
            </a:pPr>
            <a:r>
              <a:rPr lang="en-US" sz="1400" dirty="0">
                <a:latin typeface="Times New Roman" panose="02020603050405020304" pitchFamily="18" charset="0"/>
              </a:rPr>
              <a:t>    COUNT(*) AS </a:t>
            </a:r>
            <a:r>
              <a:rPr lang="en-US" sz="1400" dirty="0" err="1">
                <a:latin typeface="Times New Roman" panose="02020603050405020304" pitchFamily="18" charset="0"/>
              </a:rPr>
              <a:t>Total_no_of_Restaurant_has_online_delivery</a:t>
            </a:r>
            <a:endParaRPr lang="en-US" sz="1400" dirty="0">
              <a:latin typeface="Times New Roman" panose="02020603050405020304" pitchFamily="18" charset="0"/>
            </a:endParaRPr>
          </a:p>
          <a:p>
            <a:pPr marL="0" indent="0">
              <a:buNone/>
            </a:pPr>
            <a:r>
              <a:rPr lang="en-US" sz="1400" dirty="0">
                <a:latin typeface="Times New Roman" panose="02020603050405020304" pitchFamily="18" charset="0"/>
              </a:rPr>
              <a:t>FROM</a:t>
            </a:r>
          </a:p>
          <a:p>
            <a:pPr marL="0" indent="0">
              <a:buNone/>
            </a:pPr>
            <a:r>
              <a:rPr lang="en-US" sz="1400" dirty="0">
                <a:latin typeface="Times New Roman" panose="02020603050405020304" pitchFamily="18" charset="0"/>
              </a:rPr>
              <a:t>    </a:t>
            </a:r>
            <a:r>
              <a:rPr lang="en-US" sz="1400" dirty="0" err="1">
                <a:latin typeface="Times New Roman" panose="02020603050405020304" pitchFamily="18" charset="0"/>
              </a:rPr>
              <a:t>restaurant_addresss</a:t>
            </a:r>
            <a:endParaRPr lang="en-US" sz="1400" dirty="0">
              <a:latin typeface="Times New Roman" panose="02020603050405020304" pitchFamily="18" charset="0"/>
            </a:endParaRPr>
          </a:p>
          <a:p>
            <a:pPr marL="0" indent="0">
              <a:buNone/>
            </a:pPr>
            <a:r>
              <a:rPr lang="en-US" sz="1400" dirty="0">
                <a:latin typeface="Times New Roman" panose="02020603050405020304" pitchFamily="18" charset="0"/>
              </a:rPr>
              <a:t>        JOIN</a:t>
            </a:r>
          </a:p>
          <a:p>
            <a:pPr marL="0" indent="0">
              <a:buNone/>
            </a:pPr>
            <a:r>
              <a:rPr lang="en-US" sz="1400" dirty="0">
                <a:latin typeface="Times New Roman" panose="02020603050405020304" pitchFamily="18" charset="0"/>
              </a:rPr>
              <a:t>    restaurant ON </a:t>
            </a:r>
            <a:r>
              <a:rPr lang="en-US" sz="1400" dirty="0" err="1">
                <a:latin typeface="Times New Roman" panose="02020603050405020304" pitchFamily="18" charset="0"/>
              </a:rPr>
              <a:t>restaurant_addresss.RestaurantId</a:t>
            </a:r>
            <a:r>
              <a:rPr lang="en-US" sz="1400" dirty="0">
                <a:latin typeface="Times New Roman" panose="02020603050405020304" pitchFamily="18" charset="0"/>
              </a:rPr>
              <a:t> = </a:t>
            </a:r>
            <a:r>
              <a:rPr lang="en-US" sz="1400" dirty="0" err="1">
                <a:latin typeface="Times New Roman" panose="02020603050405020304" pitchFamily="18" charset="0"/>
              </a:rPr>
              <a:t>restaurant.RestaurantId</a:t>
            </a:r>
            <a:endParaRPr lang="en-US" sz="1400" dirty="0">
              <a:latin typeface="Times New Roman" panose="02020603050405020304" pitchFamily="18" charset="0"/>
            </a:endParaRPr>
          </a:p>
          <a:p>
            <a:pPr marL="0" indent="0">
              <a:buNone/>
            </a:pPr>
            <a:r>
              <a:rPr lang="en-US" sz="1400" dirty="0">
                <a:latin typeface="Times New Roman" panose="02020603050405020304" pitchFamily="18" charset="0"/>
              </a:rPr>
              <a:t>WHERE</a:t>
            </a:r>
          </a:p>
          <a:p>
            <a:pPr marL="0" indent="0">
              <a:buNone/>
            </a:pPr>
            <a:r>
              <a:rPr lang="en-US" sz="1400" dirty="0">
                <a:latin typeface="Times New Roman" panose="02020603050405020304" pitchFamily="18" charset="0"/>
              </a:rPr>
              <a:t>    </a:t>
            </a:r>
            <a:r>
              <a:rPr lang="en-US" sz="1400" dirty="0" err="1">
                <a:latin typeface="Times New Roman" panose="02020603050405020304" pitchFamily="18" charset="0"/>
              </a:rPr>
              <a:t>Has_Online_delivery</a:t>
            </a:r>
            <a:r>
              <a:rPr lang="en-US" sz="1400" dirty="0">
                <a:latin typeface="Times New Roman" panose="02020603050405020304" pitchFamily="18" charset="0"/>
              </a:rPr>
              <a:t> = 'Yes'</a:t>
            </a:r>
          </a:p>
          <a:p>
            <a:pPr marL="0" indent="0">
              <a:buNone/>
            </a:pPr>
            <a:r>
              <a:rPr lang="en-US" sz="1400" dirty="0">
                <a:latin typeface="Times New Roman" panose="02020603050405020304" pitchFamily="18" charset="0"/>
              </a:rPr>
              <a:t>GROUP BY Country</a:t>
            </a:r>
            <a:r>
              <a:rPr lang="en-US" sz="1400" dirty="0" smtClean="0">
                <a:latin typeface="Times New Roman" panose="02020603050405020304" pitchFamily="18" charset="0"/>
              </a:rPr>
              <a:t>;</a:t>
            </a:r>
          </a:p>
          <a:p>
            <a:pPr marL="0" indent="0">
              <a:buNone/>
            </a:pPr>
            <a:endParaRPr lang="en-IN" sz="1400" dirty="0">
              <a:latin typeface="Times New Roman" panose="02020603050405020304" pitchFamily="18" charset="0"/>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60" y="4677341"/>
            <a:ext cx="7303669" cy="1152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4051083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188640"/>
            <a:ext cx="8219256" cy="864096"/>
          </a:xfrm>
        </p:spPr>
        <p:style>
          <a:lnRef idx="1">
            <a:schemeClr val="accent1"/>
          </a:lnRef>
          <a:fillRef idx="2">
            <a:schemeClr val="accent1"/>
          </a:fillRef>
          <a:effectRef idx="1">
            <a:schemeClr val="accent1"/>
          </a:effectRef>
          <a:fontRef idx="minor">
            <a:schemeClr val="dk1"/>
          </a:fontRef>
        </p:style>
        <p:txBody>
          <a:bodyPr/>
          <a:lstStyle/>
          <a:p>
            <a:pPr>
              <a:lnSpc>
                <a:spcPct val="100000"/>
              </a:lnSpc>
            </a:pPr>
            <a:r>
              <a:rPr lang="en-US" sz="1800" dirty="0">
                <a:effectLst/>
              </a:rPr>
              <a:t>Calculate the total number of votes for each cuisine type across all cities</a:t>
            </a:r>
            <a:endParaRPr lang="en-IN" sz="1800" dirty="0">
              <a:effectLst/>
            </a:endParaRPr>
          </a:p>
        </p:txBody>
      </p:sp>
      <p:sp>
        <p:nvSpPr>
          <p:cNvPr id="3" name="Content Placeholder 2"/>
          <p:cNvSpPr>
            <a:spLocks noGrp="1"/>
          </p:cNvSpPr>
          <p:nvPr>
            <p:ph idx="1"/>
          </p:nvPr>
        </p:nvSpPr>
        <p:spPr>
          <a:xfrm>
            <a:off x="457200" y="1268760"/>
            <a:ext cx="8229600" cy="4857403"/>
          </a:xfrm>
        </p:spPr>
        <p:style>
          <a:lnRef idx="1">
            <a:schemeClr val="accent1"/>
          </a:lnRef>
          <a:fillRef idx="2">
            <a:schemeClr val="accent1"/>
          </a:fillRef>
          <a:effectRef idx="1">
            <a:schemeClr val="accent1"/>
          </a:effectRef>
          <a:fontRef idx="minor">
            <a:schemeClr val="dk1"/>
          </a:fontRef>
        </p:style>
        <p:txBody>
          <a:bodyPr/>
          <a:lstStyle/>
          <a:p>
            <a:pPr marL="0" indent="0">
              <a:buNone/>
            </a:pPr>
            <a:r>
              <a:rPr lang="en-US" sz="1400" dirty="0">
                <a:latin typeface="Times New Roman" panose="02020603050405020304" pitchFamily="18" charset="0"/>
              </a:rPr>
              <a:t>SELECT </a:t>
            </a:r>
          </a:p>
          <a:p>
            <a:pPr marL="0" indent="0">
              <a:buNone/>
            </a:pPr>
            <a:r>
              <a:rPr lang="en-US" sz="1400" dirty="0">
                <a:latin typeface="Times New Roman" panose="02020603050405020304" pitchFamily="18" charset="0"/>
              </a:rPr>
              <a:t>    Cuisines, SUM(Votes)</a:t>
            </a:r>
          </a:p>
          <a:p>
            <a:pPr marL="0" indent="0">
              <a:buNone/>
            </a:pPr>
            <a:r>
              <a:rPr lang="en-US" sz="1400" dirty="0">
                <a:latin typeface="Times New Roman" panose="02020603050405020304" pitchFamily="18" charset="0"/>
              </a:rPr>
              <a:t>FROM</a:t>
            </a:r>
          </a:p>
          <a:p>
            <a:pPr marL="0" indent="0">
              <a:buNone/>
            </a:pPr>
            <a:r>
              <a:rPr lang="en-US" sz="1400" dirty="0">
                <a:latin typeface="Times New Roman" panose="02020603050405020304" pitchFamily="18" charset="0"/>
              </a:rPr>
              <a:t>    </a:t>
            </a:r>
            <a:r>
              <a:rPr lang="en-US" sz="1400" dirty="0" err="1">
                <a:latin typeface="Times New Roman" panose="02020603050405020304" pitchFamily="18" charset="0"/>
              </a:rPr>
              <a:t>restaurant_addresss</a:t>
            </a:r>
            <a:endParaRPr lang="en-US" sz="1400" dirty="0">
              <a:latin typeface="Times New Roman" panose="02020603050405020304" pitchFamily="18" charset="0"/>
            </a:endParaRPr>
          </a:p>
          <a:p>
            <a:pPr marL="0" indent="0">
              <a:buNone/>
            </a:pPr>
            <a:r>
              <a:rPr lang="en-US" sz="1400" dirty="0">
                <a:latin typeface="Times New Roman" panose="02020603050405020304" pitchFamily="18" charset="0"/>
              </a:rPr>
              <a:t>        JOIN</a:t>
            </a:r>
          </a:p>
          <a:p>
            <a:pPr marL="0" indent="0">
              <a:buNone/>
            </a:pPr>
            <a:r>
              <a:rPr lang="en-US" sz="1400" dirty="0">
                <a:latin typeface="Times New Roman" panose="02020603050405020304" pitchFamily="18" charset="0"/>
              </a:rPr>
              <a:t>    restaurant ON </a:t>
            </a:r>
            <a:r>
              <a:rPr lang="en-US" sz="1400" dirty="0" err="1">
                <a:latin typeface="Times New Roman" panose="02020603050405020304" pitchFamily="18" charset="0"/>
              </a:rPr>
              <a:t>restaurant_addresss.RestaurantId</a:t>
            </a:r>
            <a:r>
              <a:rPr lang="en-US" sz="1400" dirty="0">
                <a:latin typeface="Times New Roman" panose="02020603050405020304" pitchFamily="18" charset="0"/>
              </a:rPr>
              <a:t> = </a:t>
            </a:r>
            <a:r>
              <a:rPr lang="en-US" sz="1400" dirty="0" err="1">
                <a:latin typeface="Times New Roman" panose="02020603050405020304" pitchFamily="18" charset="0"/>
              </a:rPr>
              <a:t>restaurant.RestaurantId</a:t>
            </a:r>
            <a:endParaRPr lang="en-US" sz="1400" dirty="0">
              <a:latin typeface="Times New Roman" panose="02020603050405020304" pitchFamily="18" charset="0"/>
            </a:endParaRPr>
          </a:p>
          <a:p>
            <a:pPr marL="0" indent="0">
              <a:buNone/>
            </a:pPr>
            <a:r>
              <a:rPr lang="en-US" sz="1400" dirty="0">
                <a:latin typeface="Times New Roman" panose="02020603050405020304" pitchFamily="18" charset="0"/>
              </a:rPr>
              <a:t>GROUP BY Cuisines;</a:t>
            </a:r>
          </a:p>
          <a:p>
            <a:pPr marL="0" indent="0">
              <a:buNone/>
            </a:pPr>
            <a:endParaRPr lang="en-IN" dirty="0">
              <a:latin typeface="Times New Roman" panose="02020603050405020304" pitchFamily="18" charset="0"/>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576" y="3501008"/>
            <a:ext cx="4873995" cy="25574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0724849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260648"/>
            <a:ext cx="8219256" cy="792088"/>
          </a:xfrm>
        </p:spPr>
        <p:style>
          <a:lnRef idx="1">
            <a:schemeClr val="accent1"/>
          </a:lnRef>
          <a:fillRef idx="2">
            <a:schemeClr val="accent1"/>
          </a:fillRef>
          <a:effectRef idx="1">
            <a:schemeClr val="accent1"/>
          </a:effectRef>
          <a:fontRef idx="minor">
            <a:schemeClr val="dk1"/>
          </a:fontRef>
        </p:style>
        <p:txBody>
          <a:bodyPr/>
          <a:lstStyle/>
          <a:p>
            <a:pPr>
              <a:lnSpc>
                <a:spcPct val="100000"/>
              </a:lnSpc>
            </a:pPr>
            <a:r>
              <a:rPr lang="en-US" sz="1800" dirty="0">
                <a:effectLst/>
              </a:rPr>
              <a:t>Find the top 3 cities with the highest average rating for restaurants</a:t>
            </a:r>
            <a:endParaRPr lang="en-IN" sz="1800" dirty="0">
              <a:effectLst/>
            </a:endParaRPr>
          </a:p>
        </p:txBody>
      </p:sp>
      <p:sp>
        <p:nvSpPr>
          <p:cNvPr id="3" name="Content Placeholder 2"/>
          <p:cNvSpPr>
            <a:spLocks noGrp="1"/>
          </p:cNvSpPr>
          <p:nvPr>
            <p:ph idx="1"/>
          </p:nvPr>
        </p:nvSpPr>
        <p:spPr>
          <a:xfrm>
            <a:off x="457200" y="1268760"/>
            <a:ext cx="8229600" cy="4857403"/>
          </a:xfrm>
        </p:spPr>
        <p:style>
          <a:lnRef idx="1">
            <a:schemeClr val="accent1"/>
          </a:lnRef>
          <a:fillRef idx="2">
            <a:schemeClr val="accent1"/>
          </a:fillRef>
          <a:effectRef idx="1">
            <a:schemeClr val="accent1"/>
          </a:effectRef>
          <a:fontRef idx="minor">
            <a:schemeClr val="dk1"/>
          </a:fontRef>
        </p:style>
        <p:txBody>
          <a:bodyPr>
            <a:normAutofit/>
          </a:bodyPr>
          <a:lstStyle/>
          <a:p>
            <a:pPr marL="0" indent="0">
              <a:buNone/>
            </a:pPr>
            <a:r>
              <a:rPr lang="en-US" sz="1400" dirty="0">
                <a:latin typeface="Times New Roman" panose="02020603050405020304" pitchFamily="18" charset="0"/>
              </a:rPr>
              <a:t>SELECT </a:t>
            </a:r>
          </a:p>
          <a:p>
            <a:pPr marL="0" indent="0">
              <a:buNone/>
            </a:pPr>
            <a:r>
              <a:rPr lang="en-US" sz="1400" dirty="0">
                <a:latin typeface="Times New Roman" panose="02020603050405020304" pitchFamily="18" charset="0"/>
              </a:rPr>
              <a:t>    City, ROUND(AVG(Rating), 2) AS </a:t>
            </a:r>
            <a:r>
              <a:rPr lang="en-US" sz="1400" dirty="0" err="1">
                <a:latin typeface="Times New Roman" panose="02020603050405020304" pitchFamily="18" charset="0"/>
              </a:rPr>
              <a:t>Avg_rating</a:t>
            </a:r>
            <a:endParaRPr lang="en-US" sz="1400" dirty="0">
              <a:latin typeface="Times New Roman" panose="02020603050405020304" pitchFamily="18" charset="0"/>
            </a:endParaRPr>
          </a:p>
          <a:p>
            <a:pPr marL="0" indent="0">
              <a:buNone/>
            </a:pPr>
            <a:r>
              <a:rPr lang="en-US" sz="1400" dirty="0">
                <a:latin typeface="Times New Roman" panose="02020603050405020304" pitchFamily="18" charset="0"/>
              </a:rPr>
              <a:t>FROM</a:t>
            </a:r>
          </a:p>
          <a:p>
            <a:pPr marL="0" indent="0">
              <a:buNone/>
            </a:pPr>
            <a:r>
              <a:rPr lang="en-US" sz="1400" dirty="0">
                <a:latin typeface="Times New Roman" panose="02020603050405020304" pitchFamily="18" charset="0"/>
              </a:rPr>
              <a:t>    </a:t>
            </a:r>
            <a:r>
              <a:rPr lang="en-US" sz="1400" dirty="0" err="1">
                <a:latin typeface="Times New Roman" panose="02020603050405020304" pitchFamily="18" charset="0"/>
              </a:rPr>
              <a:t>restaurant_addresss</a:t>
            </a:r>
            <a:endParaRPr lang="en-US" sz="1400" dirty="0">
              <a:latin typeface="Times New Roman" panose="02020603050405020304" pitchFamily="18" charset="0"/>
            </a:endParaRPr>
          </a:p>
          <a:p>
            <a:pPr marL="0" indent="0">
              <a:buNone/>
            </a:pPr>
            <a:r>
              <a:rPr lang="en-US" sz="1400" dirty="0">
                <a:latin typeface="Times New Roman" panose="02020603050405020304" pitchFamily="18" charset="0"/>
              </a:rPr>
              <a:t>        JOIN</a:t>
            </a:r>
          </a:p>
          <a:p>
            <a:pPr marL="0" indent="0">
              <a:buNone/>
            </a:pPr>
            <a:r>
              <a:rPr lang="en-US" sz="1400" dirty="0">
                <a:latin typeface="Times New Roman" panose="02020603050405020304" pitchFamily="18" charset="0"/>
              </a:rPr>
              <a:t>    restaurant ON </a:t>
            </a:r>
            <a:r>
              <a:rPr lang="en-US" sz="1400" dirty="0" err="1">
                <a:latin typeface="Times New Roman" panose="02020603050405020304" pitchFamily="18" charset="0"/>
              </a:rPr>
              <a:t>restaurant_addresss.RestaurantId</a:t>
            </a:r>
            <a:r>
              <a:rPr lang="en-US" sz="1400" dirty="0">
                <a:latin typeface="Times New Roman" panose="02020603050405020304" pitchFamily="18" charset="0"/>
              </a:rPr>
              <a:t> = </a:t>
            </a:r>
            <a:r>
              <a:rPr lang="en-US" sz="1400" dirty="0" err="1">
                <a:latin typeface="Times New Roman" panose="02020603050405020304" pitchFamily="18" charset="0"/>
              </a:rPr>
              <a:t>restaurant.RestaurantId</a:t>
            </a:r>
            <a:endParaRPr lang="en-US" sz="1400" dirty="0">
              <a:latin typeface="Times New Roman" panose="02020603050405020304" pitchFamily="18" charset="0"/>
            </a:endParaRPr>
          </a:p>
          <a:p>
            <a:pPr marL="0" indent="0">
              <a:buNone/>
            </a:pPr>
            <a:r>
              <a:rPr lang="en-US" sz="1400" dirty="0">
                <a:latin typeface="Times New Roman" panose="02020603050405020304" pitchFamily="18" charset="0"/>
              </a:rPr>
              <a:t>GROUP BY City</a:t>
            </a:r>
          </a:p>
          <a:p>
            <a:pPr marL="0" indent="0">
              <a:buNone/>
            </a:pPr>
            <a:r>
              <a:rPr lang="en-US" sz="1400" dirty="0">
                <a:latin typeface="Times New Roman" panose="02020603050405020304" pitchFamily="18" charset="0"/>
              </a:rPr>
              <a:t>ORDER BY </a:t>
            </a:r>
            <a:r>
              <a:rPr lang="en-US" sz="1400" dirty="0" err="1">
                <a:latin typeface="Times New Roman" panose="02020603050405020304" pitchFamily="18" charset="0"/>
              </a:rPr>
              <a:t>Avg_rating</a:t>
            </a:r>
            <a:r>
              <a:rPr lang="en-US" sz="1400" dirty="0">
                <a:latin typeface="Times New Roman" panose="02020603050405020304" pitchFamily="18" charset="0"/>
              </a:rPr>
              <a:t> DESC</a:t>
            </a:r>
          </a:p>
          <a:p>
            <a:pPr marL="0" indent="0">
              <a:buNone/>
            </a:pPr>
            <a:r>
              <a:rPr lang="en-US" sz="1400" dirty="0">
                <a:latin typeface="Times New Roman" panose="02020603050405020304" pitchFamily="18" charset="0"/>
              </a:rPr>
              <a:t>LIMIT 3;</a:t>
            </a:r>
          </a:p>
          <a:p>
            <a:pPr marL="0" indent="0">
              <a:buNone/>
            </a:pPr>
            <a:endParaRPr lang="en-IN" sz="1400" dirty="0">
              <a:latin typeface="Times New Roman" panose="02020603050405020304" pitchFamily="18" charset="0"/>
            </a:endParaRP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9672" y="3784600"/>
            <a:ext cx="3816424" cy="190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2974703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260648"/>
            <a:ext cx="8075240" cy="648072"/>
          </a:xfrm>
        </p:spPr>
        <p:style>
          <a:lnRef idx="1">
            <a:schemeClr val="accent1"/>
          </a:lnRef>
          <a:fillRef idx="2">
            <a:schemeClr val="accent1"/>
          </a:fillRef>
          <a:effectRef idx="1">
            <a:schemeClr val="accent1"/>
          </a:effectRef>
          <a:fontRef idx="minor">
            <a:schemeClr val="dk1"/>
          </a:fontRef>
        </p:style>
        <p:txBody>
          <a:bodyPr/>
          <a:lstStyle/>
          <a:p>
            <a:pPr>
              <a:lnSpc>
                <a:spcPct val="100000"/>
              </a:lnSpc>
            </a:pPr>
            <a:r>
              <a:rPr lang="en-US" sz="1800" dirty="0">
                <a:effectLst/>
              </a:rPr>
              <a:t>Determine the restaurant with the highest rating in each locality</a:t>
            </a:r>
            <a:endParaRPr lang="en-IN" sz="1800" dirty="0">
              <a:effectLst/>
            </a:endParaRPr>
          </a:p>
        </p:txBody>
      </p:sp>
      <p:sp>
        <p:nvSpPr>
          <p:cNvPr id="3" name="Content Placeholder 2"/>
          <p:cNvSpPr>
            <a:spLocks noGrp="1"/>
          </p:cNvSpPr>
          <p:nvPr>
            <p:ph idx="1"/>
          </p:nvPr>
        </p:nvSpPr>
        <p:spPr>
          <a:xfrm>
            <a:off x="457200" y="1052736"/>
            <a:ext cx="8229600" cy="5001419"/>
          </a:xfrm>
        </p:spPr>
        <p:style>
          <a:lnRef idx="1">
            <a:schemeClr val="accent1"/>
          </a:lnRef>
          <a:fillRef idx="2">
            <a:schemeClr val="accent1"/>
          </a:fillRef>
          <a:effectRef idx="1">
            <a:schemeClr val="accent1"/>
          </a:effectRef>
          <a:fontRef idx="minor">
            <a:schemeClr val="dk1"/>
          </a:fontRef>
        </p:style>
        <p:txBody>
          <a:bodyPr>
            <a:normAutofit/>
          </a:bodyPr>
          <a:lstStyle/>
          <a:p>
            <a:pPr marL="0" indent="0">
              <a:buNone/>
            </a:pPr>
            <a:r>
              <a:rPr lang="en-IN" sz="1400" dirty="0">
                <a:latin typeface="Times New Roman" panose="02020603050405020304" pitchFamily="18" charset="0"/>
              </a:rPr>
              <a:t>SELECT </a:t>
            </a:r>
          </a:p>
          <a:p>
            <a:pPr marL="0" indent="0">
              <a:buNone/>
            </a:pPr>
            <a:r>
              <a:rPr lang="en-IN" sz="1400" dirty="0">
                <a:latin typeface="Times New Roman" panose="02020603050405020304" pitchFamily="18" charset="0"/>
              </a:rPr>
              <a:t>    Locality, </a:t>
            </a:r>
            <a:r>
              <a:rPr lang="en-IN" sz="1400" dirty="0" err="1">
                <a:latin typeface="Times New Roman" panose="02020603050405020304" pitchFamily="18" charset="0"/>
              </a:rPr>
              <a:t>RestaurantName</a:t>
            </a:r>
            <a:r>
              <a:rPr lang="en-IN" sz="1400" dirty="0">
                <a:latin typeface="Times New Roman" panose="02020603050405020304" pitchFamily="18" charset="0"/>
              </a:rPr>
              <a:t>, MAX(Rating) AS </a:t>
            </a:r>
            <a:r>
              <a:rPr lang="en-IN" sz="1400" dirty="0" err="1">
                <a:latin typeface="Times New Roman" panose="02020603050405020304" pitchFamily="18" charset="0"/>
              </a:rPr>
              <a:t>Max_rating</a:t>
            </a:r>
            <a:endParaRPr lang="en-IN" sz="1400" dirty="0">
              <a:latin typeface="Times New Roman" panose="02020603050405020304" pitchFamily="18" charset="0"/>
            </a:endParaRPr>
          </a:p>
          <a:p>
            <a:pPr marL="0" indent="0">
              <a:buNone/>
            </a:pPr>
            <a:r>
              <a:rPr lang="en-IN" sz="1400" dirty="0">
                <a:latin typeface="Times New Roman" panose="02020603050405020304" pitchFamily="18" charset="0"/>
              </a:rPr>
              <a:t>FROM</a:t>
            </a:r>
          </a:p>
          <a:p>
            <a:pPr marL="0" indent="0">
              <a:buNone/>
            </a:pPr>
            <a:r>
              <a:rPr lang="en-IN" sz="1400" dirty="0">
                <a:latin typeface="Times New Roman" panose="02020603050405020304" pitchFamily="18" charset="0"/>
              </a:rPr>
              <a:t>    </a:t>
            </a:r>
            <a:r>
              <a:rPr lang="en-IN" sz="1400" dirty="0" err="1">
                <a:latin typeface="Times New Roman" panose="02020603050405020304" pitchFamily="18" charset="0"/>
              </a:rPr>
              <a:t>restaurant_addresss</a:t>
            </a:r>
            <a:endParaRPr lang="en-IN" sz="1400" dirty="0">
              <a:latin typeface="Times New Roman" panose="02020603050405020304" pitchFamily="18" charset="0"/>
            </a:endParaRPr>
          </a:p>
          <a:p>
            <a:pPr marL="0" indent="0">
              <a:buNone/>
            </a:pPr>
            <a:r>
              <a:rPr lang="en-IN" sz="1400" dirty="0">
                <a:latin typeface="Times New Roman" panose="02020603050405020304" pitchFamily="18" charset="0"/>
              </a:rPr>
              <a:t>        JOIN</a:t>
            </a:r>
          </a:p>
          <a:p>
            <a:pPr marL="0" indent="0">
              <a:buNone/>
            </a:pPr>
            <a:r>
              <a:rPr lang="en-IN" sz="1400" dirty="0">
                <a:latin typeface="Times New Roman" panose="02020603050405020304" pitchFamily="18" charset="0"/>
              </a:rPr>
              <a:t>    restaurant ON </a:t>
            </a:r>
            <a:r>
              <a:rPr lang="en-IN" sz="1400" dirty="0" err="1">
                <a:latin typeface="Times New Roman" panose="02020603050405020304" pitchFamily="18" charset="0"/>
              </a:rPr>
              <a:t>restaurant_addresss.RestaurantId</a:t>
            </a:r>
            <a:r>
              <a:rPr lang="en-IN" sz="1400" dirty="0">
                <a:latin typeface="Times New Roman" panose="02020603050405020304" pitchFamily="18" charset="0"/>
              </a:rPr>
              <a:t> = </a:t>
            </a:r>
            <a:r>
              <a:rPr lang="en-IN" sz="1400" dirty="0" err="1">
                <a:latin typeface="Times New Roman" panose="02020603050405020304" pitchFamily="18" charset="0"/>
              </a:rPr>
              <a:t>restaurant.RestaurantId</a:t>
            </a:r>
            <a:endParaRPr lang="en-IN" sz="1400" dirty="0">
              <a:latin typeface="Times New Roman" panose="02020603050405020304" pitchFamily="18" charset="0"/>
            </a:endParaRPr>
          </a:p>
          <a:p>
            <a:pPr marL="0" indent="0">
              <a:buNone/>
            </a:pPr>
            <a:r>
              <a:rPr lang="en-IN" sz="1400" dirty="0">
                <a:latin typeface="Times New Roman" panose="02020603050405020304" pitchFamily="18" charset="0"/>
              </a:rPr>
              <a:t>GROUP BY Locality , </a:t>
            </a:r>
            <a:r>
              <a:rPr lang="en-IN" sz="1400" dirty="0" err="1">
                <a:latin typeface="Times New Roman" panose="02020603050405020304" pitchFamily="18" charset="0"/>
              </a:rPr>
              <a:t>RestaurantName</a:t>
            </a:r>
            <a:endParaRPr lang="en-IN" sz="1400" dirty="0">
              <a:latin typeface="Times New Roman" panose="02020603050405020304" pitchFamily="18" charset="0"/>
            </a:endParaRPr>
          </a:p>
          <a:p>
            <a:pPr marL="0" indent="0">
              <a:buNone/>
            </a:pPr>
            <a:r>
              <a:rPr lang="en-IN" sz="1400" dirty="0">
                <a:latin typeface="Times New Roman" panose="02020603050405020304" pitchFamily="18" charset="0"/>
              </a:rPr>
              <a:t>ORDER BY </a:t>
            </a:r>
            <a:r>
              <a:rPr lang="en-IN" sz="1400" dirty="0" err="1">
                <a:latin typeface="Times New Roman" panose="02020603050405020304" pitchFamily="18" charset="0"/>
              </a:rPr>
              <a:t>RestaurantName</a:t>
            </a:r>
            <a:r>
              <a:rPr lang="en-IN" sz="1400" dirty="0">
                <a:latin typeface="Times New Roman" panose="02020603050405020304" pitchFamily="18" charset="0"/>
              </a:rPr>
              <a:t> ASC , </a:t>
            </a:r>
            <a:r>
              <a:rPr lang="en-IN" sz="1400" dirty="0" err="1">
                <a:latin typeface="Times New Roman" panose="02020603050405020304" pitchFamily="18" charset="0"/>
              </a:rPr>
              <a:t>Max_rating</a:t>
            </a:r>
            <a:r>
              <a:rPr lang="en-IN" sz="1400" dirty="0">
                <a:latin typeface="Times New Roman" panose="02020603050405020304" pitchFamily="18" charset="0"/>
              </a:rPr>
              <a:t> DESC</a:t>
            </a:r>
            <a:r>
              <a:rPr lang="en-IN" sz="1400" dirty="0" smtClean="0">
                <a:latin typeface="Times New Roman" panose="02020603050405020304" pitchFamily="18" charset="0"/>
              </a:rPr>
              <a:t>;</a:t>
            </a:r>
          </a:p>
          <a:p>
            <a:pPr marL="0" indent="0">
              <a:buNone/>
            </a:pPr>
            <a:endParaRPr lang="en-IN" sz="1400" dirty="0">
              <a:latin typeface="Times New Roman" panose="02020603050405020304" pitchFamily="18" charset="0"/>
            </a:endParaRPr>
          </a:p>
          <a:p>
            <a:pPr marL="0" indent="0">
              <a:buNone/>
            </a:pPr>
            <a:endParaRPr lang="en-IN" sz="1400" dirty="0">
              <a:latin typeface="Times New Roman" panose="02020603050405020304" pitchFamily="18" charset="0"/>
            </a:endParaRP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576" y="3465776"/>
            <a:ext cx="4968552" cy="25375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071596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332656"/>
            <a:ext cx="8219256" cy="648072"/>
          </a:xfrm>
        </p:spPr>
        <p:style>
          <a:lnRef idx="1">
            <a:schemeClr val="accent1"/>
          </a:lnRef>
          <a:fillRef idx="2">
            <a:schemeClr val="accent1"/>
          </a:fillRef>
          <a:effectRef idx="1">
            <a:schemeClr val="accent1"/>
          </a:effectRef>
          <a:fontRef idx="minor">
            <a:schemeClr val="dk1"/>
          </a:fontRef>
        </p:style>
        <p:txBody>
          <a:bodyPr/>
          <a:lstStyle/>
          <a:p>
            <a:pPr>
              <a:lnSpc>
                <a:spcPct val="100000"/>
              </a:lnSpc>
            </a:pPr>
            <a:r>
              <a:rPr lang="en-US" sz="1800" dirty="0">
                <a:effectLst/>
              </a:rPr>
              <a:t>Identify the restaurants with ratings above the average rating of all restaurants</a:t>
            </a:r>
            <a:endParaRPr lang="en-IN" sz="1800" dirty="0">
              <a:effectLst/>
            </a:endParaRPr>
          </a:p>
        </p:txBody>
      </p:sp>
      <p:sp>
        <p:nvSpPr>
          <p:cNvPr id="3" name="Content Placeholder 2"/>
          <p:cNvSpPr>
            <a:spLocks noGrp="1"/>
          </p:cNvSpPr>
          <p:nvPr>
            <p:ph idx="1"/>
          </p:nvPr>
        </p:nvSpPr>
        <p:spPr>
          <a:xfrm>
            <a:off x="457200" y="1196752"/>
            <a:ext cx="8229600" cy="5001419"/>
          </a:xfrm>
        </p:spPr>
        <p:style>
          <a:lnRef idx="1">
            <a:schemeClr val="accent1"/>
          </a:lnRef>
          <a:fillRef idx="2">
            <a:schemeClr val="accent1"/>
          </a:fillRef>
          <a:effectRef idx="1">
            <a:schemeClr val="accent1"/>
          </a:effectRef>
          <a:fontRef idx="minor">
            <a:schemeClr val="dk1"/>
          </a:fontRef>
        </p:style>
        <p:txBody>
          <a:bodyPr>
            <a:normAutofit/>
          </a:bodyPr>
          <a:lstStyle/>
          <a:p>
            <a:pPr marL="0" indent="0">
              <a:buNone/>
            </a:pPr>
            <a:r>
              <a:rPr lang="en-US" sz="1400" dirty="0">
                <a:latin typeface="Times New Roman" panose="02020603050405020304" pitchFamily="18" charset="0"/>
              </a:rPr>
              <a:t>SELECT </a:t>
            </a:r>
          </a:p>
          <a:p>
            <a:pPr marL="0" indent="0">
              <a:buNone/>
            </a:pPr>
            <a:r>
              <a:rPr lang="en-US" sz="1400" dirty="0">
                <a:latin typeface="Times New Roman" panose="02020603050405020304" pitchFamily="18" charset="0"/>
              </a:rPr>
              <a:t>    </a:t>
            </a:r>
            <a:r>
              <a:rPr lang="en-US" sz="1400" dirty="0" err="1">
                <a:latin typeface="Times New Roman" panose="02020603050405020304" pitchFamily="18" charset="0"/>
              </a:rPr>
              <a:t>RestaurantName</a:t>
            </a:r>
            <a:r>
              <a:rPr lang="en-US" sz="1400" dirty="0">
                <a:latin typeface="Times New Roman" panose="02020603050405020304" pitchFamily="18" charset="0"/>
              </a:rPr>
              <a:t>, </a:t>
            </a:r>
            <a:r>
              <a:rPr lang="en-US" sz="1400" dirty="0" smtClean="0">
                <a:latin typeface="Times New Roman" panose="02020603050405020304" pitchFamily="18" charset="0"/>
              </a:rPr>
              <a:t>Rating             </a:t>
            </a:r>
            <a:endParaRPr lang="en-US" sz="1400" dirty="0">
              <a:latin typeface="Times New Roman" panose="02020603050405020304" pitchFamily="18" charset="0"/>
            </a:endParaRPr>
          </a:p>
          <a:p>
            <a:pPr marL="0" indent="0">
              <a:buNone/>
            </a:pPr>
            <a:r>
              <a:rPr lang="en-US" sz="1400" dirty="0">
                <a:latin typeface="Times New Roman" panose="02020603050405020304" pitchFamily="18" charset="0"/>
              </a:rPr>
              <a:t>FROM</a:t>
            </a:r>
          </a:p>
          <a:p>
            <a:pPr marL="0" indent="0">
              <a:buNone/>
            </a:pPr>
            <a:r>
              <a:rPr lang="en-US" sz="1400" dirty="0">
                <a:latin typeface="Times New Roman" panose="02020603050405020304" pitchFamily="18" charset="0"/>
              </a:rPr>
              <a:t>    restaurant</a:t>
            </a:r>
          </a:p>
          <a:p>
            <a:pPr marL="0" indent="0">
              <a:buNone/>
            </a:pPr>
            <a:r>
              <a:rPr lang="en-US" sz="1400" dirty="0">
                <a:latin typeface="Times New Roman" panose="02020603050405020304" pitchFamily="18" charset="0"/>
              </a:rPr>
              <a:t>WHERE</a:t>
            </a:r>
          </a:p>
          <a:p>
            <a:pPr marL="0" indent="0">
              <a:buNone/>
            </a:pPr>
            <a:r>
              <a:rPr lang="en-US" sz="1400" dirty="0">
                <a:latin typeface="Times New Roman" panose="02020603050405020304" pitchFamily="18" charset="0"/>
              </a:rPr>
              <a:t>    Rating &gt; (SELECT </a:t>
            </a:r>
          </a:p>
          <a:p>
            <a:pPr marL="0" indent="0">
              <a:buNone/>
            </a:pPr>
            <a:r>
              <a:rPr lang="en-US" sz="1400" dirty="0">
                <a:latin typeface="Times New Roman" panose="02020603050405020304" pitchFamily="18" charset="0"/>
              </a:rPr>
              <a:t>            AVG(Rating)</a:t>
            </a:r>
          </a:p>
          <a:p>
            <a:pPr marL="0" indent="0">
              <a:buNone/>
            </a:pPr>
            <a:r>
              <a:rPr lang="en-US" sz="1400" dirty="0">
                <a:latin typeface="Times New Roman" panose="02020603050405020304" pitchFamily="18" charset="0"/>
              </a:rPr>
              <a:t>        FROM</a:t>
            </a:r>
          </a:p>
          <a:p>
            <a:pPr marL="0" indent="0">
              <a:buNone/>
            </a:pPr>
            <a:r>
              <a:rPr lang="en-US" sz="1400" dirty="0">
                <a:latin typeface="Times New Roman" panose="02020603050405020304" pitchFamily="18" charset="0"/>
              </a:rPr>
              <a:t>            restaurant)</a:t>
            </a:r>
          </a:p>
          <a:p>
            <a:pPr marL="0" indent="0">
              <a:buNone/>
            </a:pPr>
            <a:r>
              <a:rPr lang="en-US" sz="1400" dirty="0">
                <a:latin typeface="Times New Roman" panose="02020603050405020304" pitchFamily="18" charset="0"/>
              </a:rPr>
              <a:t>ORDER BY Rating DESC;</a:t>
            </a:r>
          </a:p>
          <a:p>
            <a:pPr marL="0" indent="0">
              <a:buNone/>
            </a:pPr>
            <a:endParaRPr lang="en-IN" sz="1400" dirty="0">
              <a:latin typeface="Times New Roman" panose="02020603050405020304" pitchFamily="18" charset="0"/>
            </a:endParaRP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67944" y="1340768"/>
            <a:ext cx="3882784" cy="360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6282144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260648"/>
            <a:ext cx="8568952" cy="648072"/>
          </a:xfrm>
        </p:spPr>
        <p:style>
          <a:lnRef idx="1">
            <a:schemeClr val="accent1"/>
          </a:lnRef>
          <a:fillRef idx="2">
            <a:schemeClr val="accent1"/>
          </a:fillRef>
          <a:effectRef idx="1">
            <a:schemeClr val="accent1"/>
          </a:effectRef>
          <a:fontRef idx="minor">
            <a:schemeClr val="dk1"/>
          </a:fontRef>
        </p:style>
        <p:txBody>
          <a:bodyPr/>
          <a:lstStyle/>
          <a:p>
            <a:pPr>
              <a:lnSpc>
                <a:spcPct val="100000"/>
              </a:lnSpc>
            </a:pPr>
            <a:r>
              <a:rPr lang="en-US" sz="1800" dirty="0">
                <a:effectLst/>
              </a:rPr>
              <a:t>List the number of restaurants delivering now in each locality along with their average cost for two</a:t>
            </a:r>
            <a:endParaRPr lang="en-IN" sz="1800" dirty="0">
              <a:effectLst/>
            </a:endParaRPr>
          </a:p>
        </p:txBody>
      </p:sp>
      <p:sp>
        <p:nvSpPr>
          <p:cNvPr id="3" name="Content Placeholder 2"/>
          <p:cNvSpPr>
            <a:spLocks noGrp="1"/>
          </p:cNvSpPr>
          <p:nvPr>
            <p:ph idx="1"/>
          </p:nvPr>
        </p:nvSpPr>
        <p:spPr>
          <a:xfrm>
            <a:off x="395536" y="1052736"/>
            <a:ext cx="8568952" cy="5517232"/>
          </a:xfrm>
        </p:spPr>
        <p:style>
          <a:lnRef idx="1">
            <a:schemeClr val="accent1"/>
          </a:lnRef>
          <a:fillRef idx="2">
            <a:schemeClr val="accent1"/>
          </a:fillRef>
          <a:effectRef idx="1">
            <a:schemeClr val="accent1"/>
          </a:effectRef>
          <a:fontRef idx="minor">
            <a:schemeClr val="dk1"/>
          </a:fontRef>
        </p:style>
        <p:txBody>
          <a:bodyPr>
            <a:normAutofit/>
          </a:bodyPr>
          <a:lstStyle/>
          <a:p>
            <a:pPr marL="0" indent="0">
              <a:buNone/>
            </a:pPr>
            <a:r>
              <a:rPr lang="en-US" sz="1400" dirty="0">
                <a:latin typeface="Times New Roman" panose="02020603050405020304" pitchFamily="18" charset="0"/>
              </a:rPr>
              <a:t>SELECT </a:t>
            </a:r>
          </a:p>
          <a:p>
            <a:pPr marL="0" indent="0">
              <a:buNone/>
            </a:pPr>
            <a:r>
              <a:rPr lang="en-US" sz="1400" dirty="0">
                <a:latin typeface="Times New Roman" panose="02020603050405020304" pitchFamily="18" charset="0"/>
              </a:rPr>
              <a:t>    Locality,</a:t>
            </a:r>
          </a:p>
          <a:p>
            <a:pPr marL="0" indent="0">
              <a:buNone/>
            </a:pPr>
            <a:r>
              <a:rPr lang="en-US" sz="1400" dirty="0">
                <a:latin typeface="Times New Roman" panose="02020603050405020304" pitchFamily="18" charset="0"/>
              </a:rPr>
              <a:t>    COUNT(*) AS </a:t>
            </a:r>
            <a:r>
              <a:rPr lang="en-US" sz="1400" dirty="0" err="1">
                <a:latin typeface="Times New Roman" panose="02020603050405020304" pitchFamily="18" charset="0"/>
              </a:rPr>
              <a:t>Total_Restaurant_delivring</a:t>
            </a:r>
            <a:r>
              <a:rPr lang="en-US" sz="1400" dirty="0">
                <a:latin typeface="Times New Roman" panose="02020603050405020304" pitchFamily="18" charset="0"/>
              </a:rPr>
              <a:t>,</a:t>
            </a:r>
          </a:p>
          <a:p>
            <a:pPr marL="0" indent="0">
              <a:buNone/>
            </a:pPr>
            <a:r>
              <a:rPr lang="en-US" sz="1400" dirty="0">
                <a:latin typeface="Times New Roman" panose="02020603050405020304" pitchFamily="18" charset="0"/>
              </a:rPr>
              <a:t>    AVG(</a:t>
            </a:r>
            <a:r>
              <a:rPr lang="en-US" sz="1400" dirty="0" err="1">
                <a:latin typeface="Times New Roman" panose="02020603050405020304" pitchFamily="18" charset="0"/>
              </a:rPr>
              <a:t>Average_cost_for_two</a:t>
            </a:r>
            <a:r>
              <a:rPr lang="en-US" sz="1400" dirty="0">
                <a:latin typeface="Times New Roman" panose="02020603050405020304" pitchFamily="18" charset="0"/>
              </a:rPr>
              <a:t>) AS </a:t>
            </a:r>
            <a:r>
              <a:rPr lang="en-US" sz="1400" dirty="0" err="1">
                <a:latin typeface="Times New Roman" panose="02020603050405020304" pitchFamily="18" charset="0"/>
              </a:rPr>
              <a:t>Avg_Cost</a:t>
            </a:r>
            <a:endParaRPr lang="en-US" sz="1400" dirty="0">
              <a:latin typeface="Times New Roman" panose="02020603050405020304" pitchFamily="18" charset="0"/>
            </a:endParaRPr>
          </a:p>
          <a:p>
            <a:pPr marL="0" indent="0">
              <a:buNone/>
            </a:pPr>
            <a:r>
              <a:rPr lang="en-US" sz="1400" dirty="0">
                <a:latin typeface="Times New Roman" panose="02020603050405020304" pitchFamily="18" charset="0"/>
              </a:rPr>
              <a:t>FROM</a:t>
            </a:r>
          </a:p>
          <a:p>
            <a:pPr marL="0" indent="0">
              <a:buNone/>
            </a:pPr>
            <a:r>
              <a:rPr lang="en-US" sz="1400" dirty="0">
                <a:latin typeface="Times New Roman" panose="02020603050405020304" pitchFamily="18" charset="0"/>
              </a:rPr>
              <a:t>    </a:t>
            </a:r>
            <a:r>
              <a:rPr lang="en-US" sz="1400" dirty="0" err="1">
                <a:latin typeface="Times New Roman" panose="02020603050405020304" pitchFamily="18" charset="0"/>
              </a:rPr>
              <a:t>restaurant_addresss</a:t>
            </a:r>
            <a:endParaRPr lang="en-US" sz="1400" dirty="0">
              <a:latin typeface="Times New Roman" panose="02020603050405020304" pitchFamily="18" charset="0"/>
            </a:endParaRPr>
          </a:p>
          <a:p>
            <a:pPr marL="0" indent="0">
              <a:buNone/>
            </a:pPr>
            <a:r>
              <a:rPr lang="en-US" sz="1400" dirty="0">
                <a:latin typeface="Times New Roman" panose="02020603050405020304" pitchFamily="18" charset="0"/>
              </a:rPr>
              <a:t>        JOIN</a:t>
            </a:r>
          </a:p>
          <a:p>
            <a:pPr marL="0" indent="0">
              <a:buNone/>
            </a:pPr>
            <a:r>
              <a:rPr lang="en-US" sz="1400" dirty="0">
                <a:latin typeface="Times New Roman" panose="02020603050405020304" pitchFamily="18" charset="0"/>
              </a:rPr>
              <a:t>    restaurant ON </a:t>
            </a:r>
            <a:r>
              <a:rPr lang="en-US" sz="1400" dirty="0" err="1">
                <a:latin typeface="Times New Roman" panose="02020603050405020304" pitchFamily="18" charset="0"/>
              </a:rPr>
              <a:t>restaurant_addresss.RestaurantId</a:t>
            </a:r>
            <a:r>
              <a:rPr lang="en-US" sz="1400" dirty="0">
                <a:latin typeface="Times New Roman" panose="02020603050405020304" pitchFamily="18" charset="0"/>
              </a:rPr>
              <a:t> = </a:t>
            </a:r>
            <a:r>
              <a:rPr lang="en-US" sz="1400" dirty="0" err="1">
                <a:latin typeface="Times New Roman" panose="02020603050405020304" pitchFamily="18" charset="0"/>
              </a:rPr>
              <a:t>restaurant.RestaurantId</a:t>
            </a:r>
            <a:endParaRPr lang="en-US" sz="1400" dirty="0">
              <a:latin typeface="Times New Roman" panose="02020603050405020304" pitchFamily="18" charset="0"/>
            </a:endParaRPr>
          </a:p>
          <a:p>
            <a:pPr marL="0" indent="0">
              <a:buNone/>
            </a:pPr>
            <a:r>
              <a:rPr lang="en-US" sz="1400" dirty="0">
                <a:latin typeface="Times New Roman" panose="02020603050405020304" pitchFamily="18" charset="0"/>
              </a:rPr>
              <a:t>WHERE</a:t>
            </a:r>
          </a:p>
          <a:p>
            <a:pPr marL="0" indent="0">
              <a:buNone/>
            </a:pPr>
            <a:r>
              <a:rPr lang="en-US" sz="1400" dirty="0">
                <a:latin typeface="Times New Roman" panose="02020603050405020304" pitchFamily="18" charset="0"/>
              </a:rPr>
              <a:t>    </a:t>
            </a:r>
            <a:r>
              <a:rPr lang="en-US" sz="1400" dirty="0" err="1">
                <a:latin typeface="Times New Roman" panose="02020603050405020304" pitchFamily="18" charset="0"/>
              </a:rPr>
              <a:t>Is_delivering_now</a:t>
            </a:r>
            <a:r>
              <a:rPr lang="en-US" sz="1400" dirty="0">
                <a:latin typeface="Times New Roman" panose="02020603050405020304" pitchFamily="18" charset="0"/>
              </a:rPr>
              <a:t> = 'Yes'</a:t>
            </a:r>
          </a:p>
          <a:p>
            <a:pPr marL="0" indent="0">
              <a:buNone/>
            </a:pPr>
            <a:r>
              <a:rPr lang="en-US" sz="1400" dirty="0">
                <a:latin typeface="Times New Roman" panose="02020603050405020304" pitchFamily="18" charset="0"/>
              </a:rPr>
              <a:t>GROUP BY Locality</a:t>
            </a:r>
          </a:p>
          <a:p>
            <a:pPr marL="0" indent="0">
              <a:buNone/>
            </a:pPr>
            <a:r>
              <a:rPr lang="en-US" sz="1400" dirty="0">
                <a:latin typeface="Times New Roman" panose="02020603050405020304" pitchFamily="18" charset="0"/>
              </a:rPr>
              <a:t>ORDER BY </a:t>
            </a:r>
            <a:r>
              <a:rPr lang="en-US" sz="1400" dirty="0" err="1">
                <a:latin typeface="Times New Roman" panose="02020603050405020304" pitchFamily="18" charset="0"/>
              </a:rPr>
              <a:t>Total_Restaurant_delivring</a:t>
            </a:r>
            <a:r>
              <a:rPr lang="en-US" sz="1400" dirty="0">
                <a:latin typeface="Times New Roman" panose="02020603050405020304" pitchFamily="18" charset="0"/>
              </a:rPr>
              <a:t> DESC</a:t>
            </a:r>
            <a:r>
              <a:rPr lang="en-US" sz="1400" dirty="0" smtClean="0">
                <a:latin typeface="Times New Roman" panose="02020603050405020304" pitchFamily="18" charset="0"/>
              </a:rPr>
              <a:t>;</a:t>
            </a:r>
          </a:p>
          <a:p>
            <a:pPr marL="0" indent="0">
              <a:buNone/>
            </a:pPr>
            <a:endParaRPr lang="en-IN" sz="1400" dirty="0">
              <a:latin typeface="Times New Roman" panose="02020603050405020304" pitchFamily="18" charset="0"/>
            </a:endParaRP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576" y="4835556"/>
            <a:ext cx="5832648" cy="1133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6282144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332656"/>
            <a:ext cx="8496944" cy="648072"/>
          </a:xfrm>
        </p:spPr>
        <p:style>
          <a:lnRef idx="1">
            <a:schemeClr val="accent1"/>
          </a:lnRef>
          <a:fillRef idx="2">
            <a:schemeClr val="accent1"/>
          </a:fillRef>
          <a:effectRef idx="1">
            <a:schemeClr val="accent1"/>
          </a:effectRef>
          <a:fontRef idx="minor">
            <a:schemeClr val="dk1"/>
          </a:fontRef>
        </p:style>
        <p:txBody>
          <a:bodyPr/>
          <a:lstStyle/>
          <a:p>
            <a:pPr>
              <a:lnSpc>
                <a:spcPct val="100000"/>
              </a:lnSpc>
            </a:pPr>
            <a:r>
              <a:rPr lang="en-US" sz="1800" dirty="0">
                <a:effectLst/>
              </a:rPr>
              <a:t>Calculate the average, minimum, and maximum cost for two for each cuisine type</a:t>
            </a:r>
            <a:endParaRPr lang="en-IN" sz="1800" dirty="0">
              <a:effectLst/>
            </a:endParaRPr>
          </a:p>
        </p:txBody>
      </p:sp>
      <p:sp>
        <p:nvSpPr>
          <p:cNvPr id="3" name="Content Placeholder 2"/>
          <p:cNvSpPr>
            <a:spLocks noGrp="1"/>
          </p:cNvSpPr>
          <p:nvPr>
            <p:ph idx="1"/>
          </p:nvPr>
        </p:nvSpPr>
        <p:spPr>
          <a:xfrm>
            <a:off x="323528" y="1268760"/>
            <a:ext cx="8496944" cy="5040560"/>
          </a:xfrm>
        </p:spPr>
        <p:style>
          <a:lnRef idx="1">
            <a:schemeClr val="accent1"/>
          </a:lnRef>
          <a:fillRef idx="2">
            <a:schemeClr val="accent1"/>
          </a:fillRef>
          <a:effectRef idx="1">
            <a:schemeClr val="accent1"/>
          </a:effectRef>
          <a:fontRef idx="minor">
            <a:schemeClr val="dk1"/>
          </a:fontRef>
        </p:style>
        <p:txBody>
          <a:bodyPr/>
          <a:lstStyle/>
          <a:p>
            <a:pPr marL="0" indent="0">
              <a:buNone/>
            </a:pPr>
            <a:r>
              <a:rPr lang="en-US" sz="1400" dirty="0">
                <a:latin typeface="Times New Roman" panose="02020603050405020304" pitchFamily="18" charset="0"/>
              </a:rPr>
              <a:t>SELECT </a:t>
            </a:r>
          </a:p>
          <a:p>
            <a:pPr marL="0" indent="0">
              <a:buNone/>
            </a:pPr>
            <a:r>
              <a:rPr lang="en-US" sz="1400" dirty="0">
                <a:latin typeface="Times New Roman" panose="02020603050405020304" pitchFamily="18" charset="0"/>
              </a:rPr>
              <a:t>    Cuisines,</a:t>
            </a:r>
          </a:p>
          <a:p>
            <a:pPr marL="0" indent="0">
              <a:buNone/>
            </a:pPr>
            <a:r>
              <a:rPr lang="en-US" sz="1400" dirty="0">
                <a:latin typeface="Times New Roman" panose="02020603050405020304" pitchFamily="18" charset="0"/>
              </a:rPr>
              <a:t>    AVG(</a:t>
            </a:r>
            <a:r>
              <a:rPr lang="en-US" sz="1400" dirty="0" err="1">
                <a:latin typeface="Times New Roman" panose="02020603050405020304" pitchFamily="18" charset="0"/>
              </a:rPr>
              <a:t>Average_cost_for_two</a:t>
            </a:r>
            <a:r>
              <a:rPr lang="en-US" sz="1400" dirty="0">
                <a:latin typeface="Times New Roman" panose="02020603050405020304" pitchFamily="18" charset="0"/>
              </a:rPr>
              <a:t>) AS </a:t>
            </a:r>
            <a:r>
              <a:rPr lang="en-US" sz="1400" dirty="0" err="1">
                <a:latin typeface="Times New Roman" panose="02020603050405020304" pitchFamily="18" charset="0"/>
              </a:rPr>
              <a:t>Avg_Cost</a:t>
            </a:r>
            <a:r>
              <a:rPr lang="en-US" sz="1400" dirty="0">
                <a:latin typeface="Times New Roman" panose="02020603050405020304" pitchFamily="18" charset="0"/>
              </a:rPr>
              <a:t>,</a:t>
            </a:r>
          </a:p>
          <a:p>
            <a:pPr marL="0" indent="0">
              <a:buNone/>
            </a:pPr>
            <a:r>
              <a:rPr lang="en-US" sz="1400" dirty="0">
                <a:latin typeface="Times New Roman" panose="02020603050405020304" pitchFamily="18" charset="0"/>
              </a:rPr>
              <a:t>    MIN(</a:t>
            </a:r>
            <a:r>
              <a:rPr lang="en-US" sz="1400" dirty="0" err="1">
                <a:latin typeface="Times New Roman" panose="02020603050405020304" pitchFamily="18" charset="0"/>
              </a:rPr>
              <a:t>Average_cost_for_two</a:t>
            </a:r>
            <a:r>
              <a:rPr lang="en-US" sz="1400" dirty="0">
                <a:latin typeface="Times New Roman" panose="02020603050405020304" pitchFamily="18" charset="0"/>
              </a:rPr>
              <a:t>) AS </a:t>
            </a:r>
            <a:r>
              <a:rPr lang="en-US" sz="1400" dirty="0" err="1">
                <a:latin typeface="Times New Roman" panose="02020603050405020304" pitchFamily="18" charset="0"/>
              </a:rPr>
              <a:t>Min_Cost</a:t>
            </a:r>
            <a:r>
              <a:rPr lang="en-US" sz="1400" dirty="0">
                <a:latin typeface="Times New Roman" panose="02020603050405020304" pitchFamily="18" charset="0"/>
              </a:rPr>
              <a:t>,</a:t>
            </a:r>
          </a:p>
          <a:p>
            <a:pPr marL="0" indent="0">
              <a:buNone/>
            </a:pPr>
            <a:r>
              <a:rPr lang="en-US" sz="1400" dirty="0">
                <a:latin typeface="Times New Roman" panose="02020603050405020304" pitchFamily="18" charset="0"/>
              </a:rPr>
              <a:t>    MAX(</a:t>
            </a:r>
            <a:r>
              <a:rPr lang="en-US" sz="1400" dirty="0" err="1">
                <a:latin typeface="Times New Roman" panose="02020603050405020304" pitchFamily="18" charset="0"/>
              </a:rPr>
              <a:t>Average_cost_for_two</a:t>
            </a:r>
            <a:r>
              <a:rPr lang="en-US" sz="1400" dirty="0">
                <a:latin typeface="Times New Roman" panose="02020603050405020304" pitchFamily="18" charset="0"/>
              </a:rPr>
              <a:t>) AS </a:t>
            </a:r>
            <a:r>
              <a:rPr lang="en-US" sz="1400" dirty="0" err="1">
                <a:latin typeface="Times New Roman" panose="02020603050405020304" pitchFamily="18" charset="0"/>
              </a:rPr>
              <a:t>Max_Cost</a:t>
            </a:r>
            <a:endParaRPr lang="en-US" sz="1400" dirty="0">
              <a:latin typeface="Times New Roman" panose="02020603050405020304" pitchFamily="18" charset="0"/>
            </a:endParaRPr>
          </a:p>
          <a:p>
            <a:pPr marL="0" indent="0">
              <a:buNone/>
            </a:pPr>
            <a:r>
              <a:rPr lang="en-US" sz="1400" dirty="0">
                <a:latin typeface="Times New Roman" panose="02020603050405020304" pitchFamily="18" charset="0"/>
              </a:rPr>
              <a:t>FROM</a:t>
            </a:r>
          </a:p>
          <a:p>
            <a:pPr marL="0" indent="0">
              <a:buNone/>
            </a:pPr>
            <a:r>
              <a:rPr lang="en-US" sz="1400" dirty="0">
                <a:latin typeface="Times New Roman" panose="02020603050405020304" pitchFamily="18" charset="0"/>
              </a:rPr>
              <a:t>    </a:t>
            </a:r>
            <a:r>
              <a:rPr lang="en-US" sz="1400" dirty="0" err="1">
                <a:latin typeface="Times New Roman" panose="02020603050405020304" pitchFamily="18" charset="0"/>
              </a:rPr>
              <a:t>restaurant_addresss</a:t>
            </a:r>
            <a:endParaRPr lang="en-US" sz="1400" dirty="0">
              <a:latin typeface="Times New Roman" panose="02020603050405020304" pitchFamily="18" charset="0"/>
            </a:endParaRPr>
          </a:p>
          <a:p>
            <a:pPr marL="0" indent="0">
              <a:buNone/>
            </a:pPr>
            <a:r>
              <a:rPr lang="en-US" sz="1400" dirty="0">
                <a:latin typeface="Times New Roman" panose="02020603050405020304" pitchFamily="18" charset="0"/>
              </a:rPr>
              <a:t>        JOIN</a:t>
            </a:r>
          </a:p>
          <a:p>
            <a:pPr marL="0" indent="0">
              <a:buNone/>
            </a:pPr>
            <a:r>
              <a:rPr lang="en-US" sz="1400" dirty="0">
                <a:latin typeface="Times New Roman" panose="02020603050405020304" pitchFamily="18" charset="0"/>
              </a:rPr>
              <a:t>    restaurant ON </a:t>
            </a:r>
            <a:r>
              <a:rPr lang="en-US" sz="1400" dirty="0" err="1">
                <a:latin typeface="Times New Roman" panose="02020603050405020304" pitchFamily="18" charset="0"/>
              </a:rPr>
              <a:t>restaurant_addresss.RestaurantId</a:t>
            </a:r>
            <a:r>
              <a:rPr lang="en-US" sz="1400" dirty="0">
                <a:latin typeface="Times New Roman" panose="02020603050405020304" pitchFamily="18" charset="0"/>
              </a:rPr>
              <a:t> = </a:t>
            </a:r>
            <a:r>
              <a:rPr lang="en-US" sz="1400" dirty="0" err="1">
                <a:latin typeface="Times New Roman" panose="02020603050405020304" pitchFamily="18" charset="0"/>
              </a:rPr>
              <a:t>restaurant.RestaurantId</a:t>
            </a:r>
            <a:endParaRPr lang="en-US" sz="1400" dirty="0">
              <a:latin typeface="Times New Roman" panose="02020603050405020304" pitchFamily="18" charset="0"/>
            </a:endParaRPr>
          </a:p>
          <a:p>
            <a:pPr marL="0" indent="0">
              <a:buNone/>
            </a:pPr>
            <a:r>
              <a:rPr lang="en-US" sz="1400" dirty="0">
                <a:latin typeface="Times New Roman" panose="02020603050405020304" pitchFamily="18" charset="0"/>
              </a:rPr>
              <a:t>GROUP BY Cuisines</a:t>
            </a:r>
            <a:r>
              <a:rPr lang="en-US" sz="1400" dirty="0" smtClean="0">
                <a:latin typeface="Times New Roman" panose="02020603050405020304" pitchFamily="18" charset="0"/>
              </a:rPr>
              <a:t>;</a:t>
            </a:r>
          </a:p>
          <a:p>
            <a:pPr marL="0" indent="0">
              <a:buNone/>
            </a:pPr>
            <a:endParaRPr lang="en-US" sz="1400" dirty="0">
              <a:latin typeface="Times New Roman" panose="02020603050405020304" pitchFamily="18" charset="0"/>
            </a:endParaRPr>
          </a:p>
          <a:p>
            <a:pPr marL="0" indent="0">
              <a:buNone/>
            </a:pPr>
            <a:endParaRPr lang="en-IN" dirty="0">
              <a:latin typeface="Times New Roman" panose="02020603050405020304" pitchFamily="18" charset="0"/>
            </a:endParaRP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0176" y="4293096"/>
            <a:ext cx="5430016" cy="133350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6282144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2656"/>
            <a:ext cx="8229600" cy="792088"/>
          </a:xfrm>
        </p:spPr>
        <p:style>
          <a:lnRef idx="1">
            <a:schemeClr val="accent1"/>
          </a:lnRef>
          <a:fillRef idx="2">
            <a:schemeClr val="accent1"/>
          </a:fillRef>
          <a:effectRef idx="1">
            <a:schemeClr val="accent1"/>
          </a:effectRef>
          <a:fontRef idx="minor">
            <a:schemeClr val="dk1"/>
          </a:fontRef>
        </p:style>
        <p:txBody>
          <a:bodyPr>
            <a:normAutofit/>
          </a:bodyPr>
          <a:lstStyle/>
          <a:p>
            <a:pPr>
              <a:lnSpc>
                <a:spcPct val="100000"/>
              </a:lnSpc>
            </a:pPr>
            <a:r>
              <a:rPr lang="en-US" sz="1800" dirty="0">
                <a:effectLst/>
              </a:rPr>
              <a:t>Get the total number of restaurants, and the average and total votes for restaurants in each city, ordered by total votes in descending order</a:t>
            </a:r>
            <a:endParaRPr lang="en-IN" sz="1800" dirty="0">
              <a:effectLst/>
            </a:endParaRPr>
          </a:p>
        </p:txBody>
      </p:sp>
      <p:sp>
        <p:nvSpPr>
          <p:cNvPr id="3" name="Content Placeholder 2"/>
          <p:cNvSpPr>
            <a:spLocks noGrp="1"/>
          </p:cNvSpPr>
          <p:nvPr>
            <p:ph idx="1"/>
          </p:nvPr>
        </p:nvSpPr>
        <p:spPr>
          <a:xfrm>
            <a:off x="457200" y="1268760"/>
            <a:ext cx="8229600" cy="4857403"/>
          </a:xfrm>
        </p:spPr>
        <p:style>
          <a:lnRef idx="1">
            <a:schemeClr val="accent1"/>
          </a:lnRef>
          <a:fillRef idx="2">
            <a:schemeClr val="accent1"/>
          </a:fillRef>
          <a:effectRef idx="1">
            <a:schemeClr val="accent1"/>
          </a:effectRef>
          <a:fontRef idx="minor">
            <a:schemeClr val="dk1"/>
          </a:fontRef>
        </p:style>
        <p:txBody>
          <a:bodyPr>
            <a:normAutofit/>
          </a:bodyPr>
          <a:lstStyle/>
          <a:p>
            <a:pPr marL="0" indent="0">
              <a:buNone/>
            </a:pPr>
            <a:r>
              <a:rPr lang="en-US" sz="1400" dirty="0">
                <a:latin typeface="Times New Roman" panose="02020603050405020304" pitchFamily="18" charset="0"/>
              </a:rPr>
              <a:t>SELECT </a:t>
            </a:r>
          </a:p>
          <a:p>
            <a:pPr marL="0" indent="0">
              <a:buNone/>
            </a:pPr>
            <a:r>
              <a:rPr lang="en-US" sz="1400" dirty="0">
                <a:latin typeface="Times New Roman" panose="02020603050405020304" pitchFamily="18" charset="0"/>
              </a:rPr>
              <a:t>    City,</a:t>
            </a:r>
          </a:p>
          <a:p>
            <a:pPr marL="0" indent="0">
              <a:buNone/>
            </a:pPr>
            <a:r>
              <a:rPr lang="en-US" sz="1400" dirty="0">
                <a:latin typeface="Times New Roman" panose="02020603050405020304" pitchFamily="18" charset="0"/>
              </a:rPr>
              <a:t>    COUNT(*) AS </a:t>
            </a:r>
            <a:r>
              <a:rPr lang="en-US" sz="1400" dirty="0" err="1">
                <a:latin typeface="Times New Roman" panose="02020603050405020304" pitchFamily="18" charset="0"/>
              </a:rPr>
              <a:t>Total_Restaurant</a:t>
            </a:r>
            <a:r>
              <a:rPr lang="en-US" sz="1400" dirty="0">
                <a:latin typeface="Times New Roman" panose="02020603050405020304" pitchFamily="18" charset="0"/>
              </a:rPr>
              <a:t>,</a:t>
            </a:r>
          </a:p>
          <a:p>
            <a:pPr marL="0" indent="0">
              <a:buNone/>
            </a:pPr>
            <a:r>
              <a:rPr lang="en-US" sz="1400" dirty="0">
                <a:latin typeface="Times New Roman" panose="02020603050405020304" pitchFamily="18" charset="0"/>
              </a:rPr>
              <a:t>    AVG(Votes) AS </a:t>
            </a:r>
            <a:r>
              <a:rPr lang="en-US" sz="1400" dirty="0" err="1">
                <a:latin typeface="Times New Roman" panose="02020603050405020304" pitchFamily="18" charset="0"/>
              </a:rPr>
              <a:t>Avg_Votes</a:t>
            </a:r>
            <a:r>
              <a:rPr lang="en-US" sz="1400" dirty="0">
                <a:latin typeface="Times New Roman" panose="02020603050405020304" pitchFamily="18" charset="0"/>
              </a:rPr>
              <a:t>,</a:t>
            </a:r>
          </a:p>
          <a:p>
            <a:pPr marL="0" indent="0">
              <a:buNone/>
            </a:pPr>
            <a:r>
              <a:rPr lang="en-US" sz="1400" dirty="0">
                <a:latin typeface="Times New Roman" panose="02020603050405020304" pitchFamily="18" charset="0"/>
              </a:rPr>
              <a:t>    SUM(Votes) AS </a:t>
            </a:r>
            <a:r>
              <a:rPr lang="en-US" sz="1400" dirty="0" err="1">
                <a:latin typeface="Times New Roman" panose="02020603050405020304" pitchFamily="18" charset="0"/>
              </a:rPr>
              <a:t>Total_Votes</a:t>
            </a:r>
            <a:endParaRPr lang="en-US" sz="1400" dirty="0">
              <a:latin typeface="Times New Roman" panose="02020603050405020304" pitchFamily="18" charset="0"/>
            </a:endParaRPr>
          </a:p>
          <a:p>
            <a:pPr marL="0" indent="0">
              <a:buNone/>
            </a:pPr>
            <a:r>
              <a:rPr lang="en-US" sz="1400" dirty="0" smtClean="0">
                <a:latin typeface="Times New Roman" panose="02020603050405020304" pitchFamily="18" charset="0"/>
              </a:rPr>
              <a:t>        FROM</a:t>
            </a:r>
            <a:endParaRPr lang="en-US" sz="1400" dirty="0">
              <a:latin typeface="Times New Roman" panose="02020603050405020304" pitchFamily="18" charset="0"/>
            </a:endParaRPr>
          </a:p>
          <a:p>
            <a:pPr marL="0" indent="0">
              <a:buNone/>
            </a:pPr>
            <a:r>
              <a:rPr lang="en-US" sz="1400" dirty="0">
                <a:latin typeface="Times New Roman" panose="02020603050405020304" pitchFamily="18" charset="0"/>
              </a:rPr>
              <a:t>    </a:t>
            </a:r>
            <a:r>
              <a:rPr lang="en-US" sz="1400" dirty="0" err="1">
                <a:latin typeface="Times New Roman" panose="02020603050405020304" pitchFamily="18" charset="0"/>
              </a:rPr>
              <a:t>restaurant_addresss</a:t>
            </a:r>
            <a:endParaRPr lang="en-US" sz="1400" dirty="0">
              <a:latin typeface="Times New Roman" panose="02020603050405020304" pitchFamily="18" charset="0"/>
            </a:endParaRPr>
          </a:p>
          <a:p>
            <a:pPr marL="0" indent="0">
              <a:buNone/>
            </a:pPr>
            <a:r>
              <a:rPr lang="en-US" sz="1400" dirty="0">
                <a:latin typeface="Times New Roman" panose="02020603050405020304" pitchFamily="18" charset="0"/>
              </a:rPr>
              <a:t>        JOIN</a:t>
            </a:r>
          </a:p>
          <a:p>
            <a:pPr marL="0" indent="0">
              <a:buNone/>
            </a:pPr>
            <a:r>
              <a:rPr lang="en-US" sz="1400" dirty="0">
                <a:latin typeface="Times New Roman" panose="02020603050405020304" pitchFamily="18" charset="0"/>
              </a:rPr>
              <a:t>    restaurant ON </a:t>
            </a:r>
            <a:r>
              <a:rPr lang="en-US" sz="1400" dirty="0" err="1">
                <a:latin typeface="Times New Roman" panose="02020603050405020304" pitchFamily="18" charset="0"/>
              </a:rPr>
              <a:t>restaurant_addresss.RestaurantId</a:t>
            </a:r>
            <a:r>
              <a:rPr lang="en-US" sz="1400" dirty="0">
                <a:latin typeface="Times New Roman" panose="02020603050405020304" pitchFamily="18" charset="0"/>
              </a:rPr>
              <a:t> = </a:t>
            </a:r>
            <a:r>
              <a:rPr lang="en-US" sz="1400" dirty="0" err="1">
                <a:latin typeface="Times New Roman" panose="02020603050405020304" pitchFamily="18" charset="0"/>
              </a:rPr>
              <a:t>restaurant.RestaurantId</a:t>
            </a:r>
            <a:endParaRPr lang="en-US" sz="1400" dirty="0">
              <a:latin typeface="Times New Roman" panose="02020603050405020304" pitchFamily="18" charset="0"/>
            </a:endParaRPr>
          </a:p>
          <a:p>
            <a:pPr marL="0" indent="0">
              <a:buNone/>
            </a:pPr>
            <a:r>
              <a:rPr lang="en-US" sz="1400" dirty="0">
                <a:latin typeface="Times New Roman" panose="02020603050405020304" pitchFamily="18" charset="0"/>
              </a:rPr>
              <a:t>GROUP BY City</a:t>
            </a:r>
          </a:p>
          <a:p>
            <a:pPr marL="0" indent="0">
              <a:buNone/>
            </a:pPr>
            <a:r>
              <a:rPr lang="en-US" sz="1400" dirty="0">
                <a:latin typeface="Times New Roman" panose="02020603050405020304" pitchFamily="18" charset="0"/>
              </a:rPr>
              <a:t>ORDER BY </a:t>
            </a:r>
            <a:r>
              <a:rPr lang="en-US" sz="1400" dirty="0" err="1">
                <a:latin typeface="Times New Roman" panose="02020603050405020304" pitchFamily="18" charset="0"/>
              </a:rPr>
              <a:t>Total_Votes</a:t>
            </a:r>
            <a:r>
              <a:rPr lang="en-US" sz="1400" dirty="0">
                <a:latin typeface="Times New Roman" panose="02020603050405020304" pitchFamily="18" charset="0"/>
              </a:rPr>
              <a:t> DESC;</a:t>
            </a:r>
          </a:p>
          <a:p>
            <a:pPr marL="0" indent="0">
              <a:buNone/>
            </a:pPr>
            <a:endParaRPr lang="en-IN" sz="1400" dirty="0">
              <a:latin typeface="Times New Roman" panose="02020603050405020304" pitchFamily="18" charset="0"/>
            </a:endParaRP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576" y="4509120"/>
            <a:ext cx="5184576" cy="1504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6282144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2656"/>
            <a:ext cx="8229600" cy="792088"/>
          </a:xfrm>
        </p:spPr>
        <p:style>
          <a:lnRef idx="1">
            <a:schemeClr val="accent1"/>
          </a:lnRef>
          <a:fillRef idx="2">
            <a:schemeClr val="accent1"/>
          </a:fillRef>
          <a:effectRef idx="1">
            <a:schemeClr val="accent1"/>
          </a:effectRef>
          <a:fontRef idx="minor">
            <a:schemeClr val="dk1"/>
          </a:fontRef>
        </p:style>
        <p:txBody>
          <a:bodyPr/>
          <a:lstStyle/>
          <a:p>
            <a:pPr>
              <a:lnSpc>
                <a:spcPct val="100000"/>
              </a:lnSpc>
            </a:pPr>
            <a:r>
              <a:rPr lang="en-US" sz="1800" dirty="0">
                <a:effectLst/>
              </a:rPr>
              <a:t>Identify restaurants that have has Online Delivery and their average rating compared to those that haven't</a:t>
            </a:r>
            <a:endParaRPr lang="en-IN" sz="1800" dirty="0">
              <a:effectLst/>
            </a:endParaRPr>
          </a:p>
        </p:txBody>
      </p:sp>
      <p:sp>
        <p:nvSpPr>
          <p:cNvPr id="3" name="Content Placeholder 2"/>
          <p:cNvSpPr>
            <a:spLocks noGrp="1"/>
          </p:cNvSpPr>
          <p:nvPr>
            <p:ph idx="1"/>
          </p:nvPr>
        </p:nvSpPr>
        <p:spPr>
          <a:xfrm>
            <a:off x="539552" y="1307901"/>
            <a:ext cx="8147248" cy="4785395"/>
          </a:xfrm>
        </p:spPr>
        <p:style>
          <a:lnRef idx="1">
            <a:schemeClr val="accent1"/>
          </a:lnRef>
          <a:fillRef idx="2">
            <a:schemeClr val="accent1"/>
          </a:fillRef>
          <a:effectRef idx="1">
            <a:schemeClr val="accent1"/>
          </a:effectRef>
          <a:fontRef idx="minor">
            <a:schemeClr val="dk1"/>
          </a:fontRef>
        </p:style>
        <p:txBody>
          <a:bodyPr>
            <a:normAutofit/>
          </a:bodyPr>
          <a:lstStyle/>
          <a:p>
            <a:pPr marL="0" indent="0">
              <a:buNone/>
            </a:pPr>
            <a:r>
              <a:rPr lang="en-US" sz="1400" dirty="0">
                <a:latin typeface="Times New Roman" panose="02020603050405020304" pitchFamily="18" charset="0"/>
              </a:rPr>
              <a:t>SELECT </a:t>
            </a:r>
          </a:p>
          <a:p>
            <a:pPr marL="0" indent="0">
              <a:buNone/>
            </a:pPr>
            <a:r>
              <a:rPr lang="en-US" sz="1400" dirty="0">
                <a:latin typeface="Times New Roman" panose="02020603050405020304" pitchFamily="18" charset="0"/>
              </a:rPr>
              <a:t>    ROUND(AVG(Rating), 2) AS </a:t>
            </a:r>
            <a:r>
              <a:rPr lang="en-US" sz="1400" dirty="0" err="1">
                <a:latin typeface="Times New Roman" panose="02020603050405020304" pitchFamily="18" charset="0"/>
              </a:rPr>
              <a:t>Avg_rating</a:t>
            </a:r>
            <a:r>
              <a:rPr lang="en-US" sz="1400" dirty="0">
                <a:latin typeface="Times New Roman" panose="02020603050405020304" pitchFamily="18" charset="0"/>
              </a:rPr>
              <a:t>, </a:t>
            </a:r>
            <a:r>
              <a:rPr lang="en-US" sz="1400" dirty="0" err="1">
                <a:latin typeface="Times New Roman" panose="02020603050405020304" pitchFamily="18" charset="0"/>
              </a:rPr>
              <a:t>Has_Online_delivery</a:t>
            </a:r>
            <a:endParaRPr lang="en-US" sz="1400" dirty="0">
              <a:latin typeface="Times New Roman" panose="02020603050405020304" pitchFamily="18" charset="0"/>
            </a:endParaRPr>
          </a:p>
          <a:p>
            <a:pPr marL="0" indent="0">
              <a:buNone/>
            </a:pPr>
            <a:r>
              <a:rPr lang="en-US" sz="1400" dirty="0">
                <a:latin typeface="Times New Roman" panose="02020603050405020304" pitchFamily="18" charset="0"/>
              </a:rPr>
              <a:t>FROM</a:t>
            </a:r>
          </a:p>
          <a:p>
            <a:pPr marL="0" indent="0">
              <a:buNone/>
            </a:pPr>
            <a:r>
              <a:rPr lang="en-US" sz="1400" dirty="0">
                <a:latin typeface="Times New Roman" panose="02020603050405020304" pitchFamily="18" charset="0"/>
              </a:rPr>
              <a:t>    restaurant</a:t>
            </a:r>
          </a:p>
          <a:p>
            <a:pPr marL="0" indent="0">
              <a:buNone/>
            </a:pPr>
            <a:r>
              <a:rPr lang="en-US" sz="1400" dirty="0">
                <a:latin typeface="Times New Roman" panose="02020603050405020304" pitchFamily="18" charset="0"/>
              </a:rPr>
              <a:t>GROUP BY </a:t>
            </a:r>
            <a:r>
              <a:rPr lang="en-US" sz="1400" dirty="0" err="1">
                <a:latin typeface="Times New Roman" panose="02020603050405020304" pitchFamily="18" charset="0"/>
              </a:rPr>
              <a:t>Has_Online_delivery</a:t>
            </a:r>
            <a:r>
              <a:rPr lang="en-US" sz="1400" dirty="0" smtClean="0">
                <a:latin typeface="Times New Roman" panose="02020603050405020304" pitchFamily="18" charset="0"/>
              </a:rPr>
              <a:t>;</a:t>
            </a:r>
          </a:p>
          <a:p>
            <a:pPr marL="0" indent="0">
              <a:buNone/>
            </a:pPr>
            <a:endParaRPr lang="en-IN" sz="1400" dirty="0">
              <a:latin typeface="Times New Roman" panose="02020603050405020304" pitchFamily="18" charset="0"/>
            </a:endParaRPr>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4281" y="2924944"/>
            <a:ext cx="4277157" cy="1262112"/>
          </a:xfrm>
          <a:prstGeom prst="rect">
            <a:avLst/>
          </a:prstGeom>
          <a:ln/>
        </p:spPr>
        <p:style>
          <a:lnRef idx="1">
            <a:schemeClr val="accent1"/>
          </a:lnRef>
          <a:fillRef idx="2">
            <a:schemeClr val="accent1"/>
          </a:fillRef>
          <a:effectRef idx="1">
            <a:schemeClr val="accent1"/>
          </a:effectRef>
          <a:fontRef idx="minor">
            <a:schemeClr val="dk1"/>
          </a:fontRef>
        </p:style>
      </p:pic>
    </p:spTree>
    <p:extLst>
      <p:ext uri="{BB962C8B-B14F-4D97-AF65-F5344CB8AC3E}">
        <p14:creationId xmlns:p14="http://schemas.microsoft.com/office/powerpoint/2010/main" val="276282144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04664"/>
            <a:ext cx="8229600" cy="720080"/>
          </a:xfrm>
        </p:spPr>
        <p:style>
          <a:lnRef idx="1">
            <a:schemeClr val="accent1"/>
          </a:lnRef>
          <a:fillRef idx="2">
            <a:schemeClr val="accent1"/>
          </a:fillRef>
          <a:effectRef idx="1">
            <a:schemeClr val="accent1"/>
          </a:effectRef>
          <a:fontRef idx="minor">
            <a:schemeClr val="dk1"/>
          </a:fontRef>
        </p:style>
        <p:txBody>
          <a:bodyPr>
            <a:normAutofit fontScale="90000"/>
          </a:bodyPr>
          <a:lstStyle/>
          <a:p>
            <a:pPr>
              <a:lnSpc>
                <a:spcPct val="100000"/>
              </a:lnSpc>
            </a:pPr>
            <a:r>
              <a:rPr lang="en-US" sz="4400" dirty="0" smtClean="0">
                <a:effectLst/>
              </a:rPr>
              <a:t>Insights</a:t>
            </a:r>
            <a:endParaRPr lang="en-IN" sz="4400" dirty="0">
              <a:effectLst/>
            </a:endParaRPr>
          </a:p>
        </p:txBody>
      </p:sp>
      <p:sp>
        <p:nvSpPr>
          <p:cNvPr id="3" name="Content Placeholder 2"/>
          <p:cNvSpPr>
            <a:spLocks noGrp="1"/>
          </p:cNvSpPr>
          <p:nvPr>
            <p:ph idx="1"/>
          </p:nvPr>
        </p:nvSpPr>
        <p:spPr>
          <a:xfrm>
            <a:off x="457200" y="1412776"/>
            <a:ext cx="8229600" cy="4713387"/>
          </a:xfrm>
        </p:spPr>
        <p:style>
          <a:lnRef idx="1">
            <a:schemeClr val="accent1"/>
          </a:lnRef>
          <a:fillRef idx="2">
            <a:schemeClr val="accent1"/>
          </a:fillRef>
          <a:effectRef idx="1">
            <a:schemeClr val="accent1"/>
          </a:effectRef>
          <a:fontRef idx="minor">
            <a:schemeClr val="dk1"/>
          </a:fontRef>
        </p:style>
        <p:txBody>
          <a:bodyPr>
            <a:normAutofit fontScale="70000" lnSpcReduction="20000"/>
          </a:bodyPr>
          <a:lstStyle/>
          <a:p>
            <a:endParaRPr lang="en-US" dirty="0"/>
          </a:p>
          <a:p>
            <a:pPr marL="0" indent="0">
              <a:buNone/>
            </a:pPr>
            <a:r>
              <a:rPr lang="en-US" sz="2300" b="1" dirty="0">
                <a:latin typeface="Times New Roman" panose="02020603050405020304" pitchFamily="18" charset="0"/>
                <a:cs typeface="Times New Roman" panose="02020603050405020304" pitchFamily="18" charset="0"/>
              </a:rPr>
              <a:t>Restaurant Distribution</a:t>
            </a:r>
            <a:r>
              <a:rPr lang="en-US" sz="2300" dirty="0">
                <a:latin typeface="Times New Roman" panose="02020603050405020304" pitchFamily="18" charset="0"/>
                <a:cs typeface="Times New Roman" panose="02020603050405020304" pitchFamily="18" charset="0"/>
              </a:rPr>
              <a:t>:</a:t>
            </a:r>
          </a:p>
          <a:p>
            <a:r>
              <a:rPr lang="en-US" sz="2300" dirty="0">
                <a:latin typeface="Times New Roman" panose="02020603050405020304" pitchFamily="18" charset="0"/>
                <a:cs typeface="Times New Roman" panose="02020603050405020304" pitchFamily="18" charset="0"/>
              </a:rPr>
              <a:t>The dataset reveals a diverse distribution of restaurants across multiple cities and countries, with certain cities hosting a higher concentration of dining options.</a:t>
            </a:r>
          </a:p>
          <a:p>
            <a:pPr marL="0" indent="0">
              <a:buNone/>
            </a:pPr>
            <a:r>
              <a:rPr lang="en-US" sz="2300" b="1" dirty="0">
                <a:latin typeface="Times New Roman" panose="02020603050405020304" pitchFamily="18" charset="0"/>
                <a:cs typeface="Times New Roman" panose="02020603050405020304" pitchFamily="18" charset="0"/>
              </a:rPr>
              <a:t>Cuisine Popularity</a:t>
            </a:r>
            <a:r>
              <a:rPr lang="en-US" sz="2300" dirty="0">
                <a:latin typeface="Times New Roman" panose="02020603050405020304" pitchFamily="18" charset="0"/>
                <a:cs typeface="Times New Roman" panose="02020603050405020304" pitchFamily="18" charset="0"/>
              </a:rPr>
              <a:t>:</a:t>
            </a:r>
          </a:p>
          <a:p>
            <a:r>
              <a:rPr lang="en-US" sz="2300" dirty="0">
                <a:latin typeface="Times New Roman" panose="02020603050405020304" pitchFamily="18" charset="0"/>
                <a:cs typeface="Times New Roman" panose="02020603050405020304" pitchFamily="18" charset="0"/>
              </a:rPr>
              <a:t>Certain cuisines, such as Italian, Chinese, and Indian, are more prevalent across the dataset, indicating popular food preferences among users.</a:t>
            </a:r>
          </a:p>
          <a:p>
            <a:pPr marL="0" indent="0">
              <a:buNone/>
            </a:pPr>
            <a:r>
              <a:rPr lang="en-US" sz="2300" b="1" dirty="0">
                <a:latin typeface="Times New Roman" panose="02020603050405020304" pitchFamily="18" charset="0"/>
                <a:cs typeface="Times New Roman" panose="02020603050405020304" pitchFamily="18" charset="0"/>
              </a:rPr>
              <a:t>Cost Analysis:</a:t>
            </a:r>
          </a:p>
          <a:p>
            <a:r>
              <a:rPr lang="en-US" sz="2300" dirty="0">
                <a:latin typeface="Times New Roman" panose="02020603050405020304" pitchFamily="18" charset="0"/>
                <a:cs typeface="Times New Roman" panose="02020603050405020304" pitchFamily="18" charset="0"/>
              </a:rPr>
              <a:t>There is a noticeable variation in the average cost for two across different cities and cuisines. Metropolitan cities tend to have higher average costs compared to smaller towns.</a:t>
            </a:r>
          </a:p>
          <a:p>
            <a:pPr marL="0" indent="0">
              <a:buNone/>
            </a:pPr>
            <a:r>
              <a:rPr lang="en-US" sz="2300" b="1" dirty="0">
                <a:latin typeface="Times New Roman" panose="02020603050405020304" pitchFamily="18" charset="0"/>
                <a:cs typeface="Times New Roman" panose="02020603050405020304" pitchFamily="18" charset="0"/>
              </a:rPr>
              <a:t>Online Delivery and Table Booking</a:t>
            </a:r>
            <a:r>
              <a:rPr lang="en-US" sz="2300" dirty="0">
                <a:latin typeface="Times New Roman" panose="02020603050405020304" pitchFamily="18" charset="0"/>
                <a:cs typeface="Times New Roman" panose="02020603050405020304" pitchFamily="18" charset="0"/>
              </a:rPr>
              <a:t>:</a:t>
            </a:r>
          </a:p>
          <a:p>
            <a:r>
              <a:rPr lang="en-US" sz="2300" dirty="0">
                <a:latin typeface="Times New Roman" panose="02020603050405020304" pitchFamily="18" charset="0"/>
                <a:cs typeface="Times New Roman" panose="02020603050405020304" pitchFamily="18" charset="0"/>
              </a:rPr>
              <a:t>A significant number of restaurants offer online delivery, reflecting the growing trend of food delivery services. However, fewer restaurants provide table booking services.</a:t>
            </a:r>
          </a:p>
          <a:p>
            <a:pPr marL="0" indent="0">
              <a:buNone/>
            </a:pPr>
            <a:r>
              <a:rPr lang="en-US" sz="2300" b="1" dirty="0">
                <a:latin typeface="Times New Roman" panose="02020603050405020304" pitchFamily="18" charset="0"/>
                <a:cs typeface="Times New Roman" panose="02020603050405020304" pitchFamily="18" charset="0"/>
              </a:rPr>
              <a:t>Top-Rated Restaurants</a:t>
            </a:r>
            <a:r>
              <a:rPr lang="en-US" sz="2300" dirty="0">
                <a:latin typeface="Times New Roman" panose="02020603050405020304" pitchFamily="18" charset="0"/>
                <a:cs typeface="Times New Roman" panose="02020603050405020304" pitchFamily="18" charset="0"/>
              </a:rPr>
              <a:t>:</a:t>
            </a:r>
          </a:p>
          <a:p>
            <a:r>
              <a:rPr lang="en-US" sz="2300" dirty="0">
                <a:latin typeface="Times New Roman" panose="02020603050405020304" pitchFamily="18" charset="0"/>
                <a:cs typeface="Times New Roman" panose="02020603050405020304" pitchFamily="18" charset="0"/>
              </a:rPr>
              <a:t>The analysis identifies the highest-rated restaurants in various cities, helping users discover top dining options. Restaurants with higher ratings often correlate with a higher number of votes, indicating strong customer satisfaction</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140590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395536" y="1844824"/>
            <a:ext cx="8229600" cy="1656184"/>
          </a:xfrm>
        </p:spPr>
        <p:style>
          <a:lnRef idx="1">
            <a:schemeClr val="accent1"/>
          </a:lnRef>
          <a:fillRef idx="2">
            <a:schemeClr val="accent1"/>
          </a:fillRef>
          <a:effectRef idx="1">
            <a:schemeClr val="accent1"/>
          </a:effectRef>
          <a:fontRef idx="minor">
            <a:schemeClr val="dk1"/>
          </a:fontRef>
        </p:style>
        <p:txBody>
          <a:bodyPr/>
          <a:lstStyle/>
          <a:p>
            <a:pPr>
              <a:lnSpc>
                <a:spcPct val="100000"/>
              </a:lnSpc>
            </a:pPr>
            <a:r>
              <a:rPr lang="en-US" b="1" dirty="0" smtClean="0">
                <a:effectLst/>
              </a:rPr>
              <a:t>Thankyou</a:t>
            </a:r>
            <a:endParaRPr lang="en-IN" b="1" dirty="0">
              <a:effectLst/>
            </a:endParaRPr>
          </a:p>
        </p:txBody>
      </p:sp>
    </p:spTree>
    <p:extLst>
      <p:ext uri="{BB962C8B-B14F-4D97-AF65-F5344CB8AC3E}">
        <p14:creationId xmlns:p14="http://schemas.microsoft.com/office/powerpoint/2010/main" val="370095206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pex">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pex">
      <a:majorFont>
        <a:latin typeface="Lucida Sans"/>
        <a:ea typeface=""/>
        <a:cs typeface=""/>
        <a:font script="Grek" typeface="Arial"/>
        <a:font script="Cyrl" typeface="Arial"/>
        <a:font script="Jpan" typeface="HG丸ｺﾞｼｯｸM-PRO"/>
        <a:font script="Hang" typeface="휴먼옛체"/>
        <a:font script="Hans" typeface="黑体"/>
        <a:font script="Hant" typeface="微軟正黑體"/>
        <a:font script="Arab" typeface="Tahoma"/>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Book Antiqua"/>
        <a:ea typeface=""/>
        <a:cs typeface=""/>
        <a:font script="Grek" typeface="Times New Roman"/>
        <a:font script="Cyrl" typeface="Times New Roman"/>
        <a:font script="Jpan" typeface="HG明朝B"/>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Apex">
      <a:fillStyleLst>
        <a:solidFill>
          <a:schemeClr val="phClr"/>
        </a:solidFill>
        <a:gradFill rotWithShape="1">
          <a:gsLst>
            <a:gs pos="20000">
              <a:schemeClr val="phClr">
                <a:tint val="9000"/>
              </a:schemeClr>
            </a:gs>
            <a:gs pos="100000">
              <a:schemeClr val="phClr">
                <a:tint val="70000"/>
                <a:satMod val="100000"/>
              </a:schemeClr>
            </a:gs>
          </a:gsLst>
          <a:path path="circle">
            <a:fillToRect l="-15000" t="-15000" r="115000" b="115000"/>
          </a:path>
        </a:gradFill>
        <a:gradFill rotWithShape="1">
          <a:gsLst>
            <a:gs pos="0">
              <a:schemeClr val="phClr">
                <a:shade val="60000"/>
              </a:schemeClr>
            </a:gs>
            <a:gs pos="33000">
              <a:schemeClr val="phClr">
                <a:tint val="86500"/>
              </a:schemeClr>
            </a:gs>
            <a:gs pos="46750">
              <a:schemeClr val="phClr">
                <a:tint val="71000"/>
                <a:satMod val="112000"/>
              </a:schemeClr>
            </a:gs>
            <a:gs pos="53000">
              <a:schemeClr val="phClr">
                <a:tint val="71000"/>
                <a:satMod val="112000"/>
              </a:schemeClr>
            </a:gs>
            <a:gs pos="68000">
              <a:schemeClr val="phClr">
                <a:tint val="86000"/>
              </a:schemeClr>
            </a:gs>
            <a:gs pos="100000">
              <a:schemeClr val="phClr">
                <a:shade val="60000"/>
              </a:schemeClr>
            </a:gs>
          </a:gsLst>
          <a:lin ang="8350000" scaled="1"/>
        </a:gradFill>
      </a:fillStyleLst>
      <a:lnStyleLst>
        <a:ln w="9525" cap="flat" cmpd="sng" algn="ctr">
          <a:solidFill>
            <a:schemeClr val="phClr">
              <a:shade val="48000"/>
              <a:satMod val="11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130000" dist="101600" dir="2700000" algn="tl" rotWithShape="0">
              <a:srgbClr val="000000">
                <a:alpha val="35000"/>
              </a:srgbClr>
            </a:outerShdw>
          </a:effectLst>
        </a:effectStyle>
        <a:effectStyle>
          <a:effectLst>
            <a:outerShdw blurRad="190500" dist="228600" dir="2700000" sy="90000" rotWithShape="0">
              <a:srgbClr val="000000">
                <a:alpha val="25500"/>
              </a:srgbClr>
            </a:outerShdw>
          </a:effectLst>
        </a:effectStyle>
        <a:effectStyle>
          <a:effectLst>
            <a:outerShdw blurRad="190500" dist="228600" dir="2700000" sy="90000" rotWithShape="0">
              <a:srgbClr val="000000">
                <a:alpha val="25500"/>
              </a:srgbClr>
            </a:outerShdw>
          </a:effectLst>
          <a:scene3d>
            <a:camera prst="orthographicFront" fov="0">
              <a:rot lat="0" lon="0" rev="0"/>
            </a:camera>
            <a:lightRig rig="soft" dir="tl">
              <a:rot lat="0" lon="0" rev="20100000"/>
            </a:lightRig>
          </a:scene3d>
          <a:sp3d>
            <a:bevelT w="50800" h="50800"/>
          </a:sp3d>
        </a:effectStyle>
      </a:effectStyleLst>
      <a:bgFillStyleLst>
        <a:solidFill>
          <a:schemeClr val="phClr"/>
        </a:solidFill>
        <a:gradFill rotWithShape="1">
          <a:gsLst>
            <a:gs pos="0">
              <a:schemeClr val="phClr">
                <a:tint val="50000"/>
                <a:satMod val="180000"/>
              </a:schemeClr>
            </a:gs>
            <a:gs pos="100000">
              <a:schemeClr val="phClr">
                <a:shade val="45000"/>
                <a:satMod val="120000"/>
              </a:schemeClr>
            </a:gs>
          </a:gsLst>
          <a:path path="circle">
            <a:fillToRect r="100000" b="100000"/>
          </a:path>
        </a:gradFill>
        <a:blipFill>
          <a:blip xmlns:r="http://schemas.openxmlformats.org/officeDocument/2006/relationships" r:embed="rId1">
            <a:duotone>
              <a:schemeClr val="phClr">
                <a:shade val="3000"/>
                <a:satMod val="110000"/>
              </a:schemeClr>
              <a:schemeClr val="phClr">
                <a:tint val="60000"/>
                <a:satMod val="425000"/>
              </a:schemeClr>
            </a:duotone>
          </a:blip>
          <a:stretch>
            <a:fillRect/>
          </a:stretch>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Apex</Template>
  <TotalTime>242</TotalTime>
  <Words>1061</Words>
  <Application>Microsoft Office PowerPoint</Application>
  <PresentationFormat>On-screen Show (4:3)</PresentationFormat>
  <Paragraphs>178</Paragraphs>
  <Slides>19</Slides>
  <Notes>1</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Apex</vt:lpstr>
      <vt:lpstr>Zomato Restaurant Sql Project</vt:lpstr>
      <vt:lpstr>Objective</vt:lpstr>
      <vt:lpstr>Tables</vt:lpstr>
      <vt:lpstr>Tools And Technique</vt:lpstr>
      <vt:lpstr>Methodology</vt:lpstr>
      <vt:lpstr>List the total number of restaurants in each country</vt:lpstr>
      <vt:lpstr>Find the average price range of restaurants in each city</vt:lpstr>
      <vt:lpstr>Get the names of all restaurants along with their cuisines and average cost for two, ordered by cost in descending order.</vt:lpstr>
      <vt:lpstr>Count the number of restaurants that have online delivery available in each country</vt:lpstr>
      <vt:lpstr>Calculate the total number of votes for each cuisine type across all cities</vt:lpstr>
      <vt:lpstr>Find the top 3 cities with the highest average rating for restaurants</vt:lpstr>
      <vt:lpstr>Determine the restaurant with the highest rating in each locality</vt:lpstr>
      <vt:lpstr>Identify the restaurants with ratings above the average rating of all restaurants</vt:lpstr>
      <vt:lpstr>List the number of restaurants delivering now in each locality along with their average cost for two</vt:lpstr>
      <vt:lpstr>Calculate the average, minimum, and maximum cost for two for each cuisine type</vt:lpstr>
      <vt:lpstr>Get the total number of restaurants, and the average and total votes for restaurants in each city, ordered by total votes in descending order</vt:lpstr>
      <vt:lpstr>Identify restaurants that have has Online Delivery and their average rating compared to those that haven't</vt:lpstr>
      <vt:lpstr>Insights</vt:lpstr>
      <vt:lpstr>Thankyou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Zomato sql project</dc:title>
  <dc:creator>RHYTHMIC ZONE</dc:creator>
  <cp:lastModifiedBy>RHYTHMIC ZONE</cp:lastModifiedBy>
  <cp:revision>17</cp:revision>
  <dcterms:created xsi:type="dcterms:W3CDTF">2024-06-19T14:19:21Z</dcterms:created>
  <dcterms:modified xsi:type="dcterms:W3CDTF">2024-06-21T05:57:41Z</dcterms:modified>
</cp:coreProperties>
</file>